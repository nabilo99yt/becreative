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64" autoAdjust="0"/>
    <p:restoredTop sz="94590" autoAdjust="0"/>
  </p:normalViewPr>
  <p:slideViewPr>
    <p:cSldViewPr>
      <p:cViewPr varScale="1">
        <p:scale>
          <a:sx n="65" d="100"/>
          <a:sy n="65" d="100"/>
        </p:scale>
        <p:origin x="-114" y="-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25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3661-2EB9-4A47-A23F-1D888B5C7B60}" type="datetimeFigureOut">
              <a:rPr lang="fr-FR" smtClean="0"/>
              <a:t>27/03/2011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8422-953C-4523-A4FC-0E300C1FD8F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3661-2EB9-4A47-A23F-1D888B5C7B60}" type="datetimeFigureOut">
              <a:rPr lang="fr-FR" smtClean="0"/>
              <a:t>27/03/2011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8422-953C-4523-A4FC-0E300C1FD8F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3661-2EB9-4A47-A23F-1D888B5C7B60}" type="datetimeFigureOut">
              <a:rPr lang="fr-FR" smtClean="0"/>
              <a:t>27/03/2011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8422-953C-4523-A4FC-0E300C1FD8F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3661-2EB9-4A47-A23F-1D888B5C7B60}" type="datetimeFigureOut">
              <a:rPr lang="fr-FR" smtClean="0"/>
              <a:t>27/03/2011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8422-953C-4523-A4FC-0E300C1FD8F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3661-2EB9-4A47-A23F-1D888B5C7B60}" type="datetimeFigureOut">
              <a:rPr lang="fr-FR" smtClean="0"/>
              <a:t>27/03/2011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8422-953C-4523-A4FC-0E300C1FD8F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3661-2EB9-4A47-A23F-1D888B5C7B60}" type="datetimeFigureOut">
              <a:rPr lang="fr-FR" smtClean="0"/>
              <a:t>27/03/2011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8422-953C-4523-A4FC-0E300C1FD8F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3661-2EB9-4A47-A23F-1D888B5C7B60}" type="datetimeFigureOut">
              <a:rPr lang="fr-FR" smtClean="0"/>
              <a:t>27/03/2011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8422-953C-4523-A4FC-0E300C1FD8F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3661-2EB9-4A47-A23F-1D888B5C7B60}" type="datetimeFigureOut">
              <a:rPr lang="fr-FR" smtClean="0"/>
              <a:t>27/03/2011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8422-953C-4523-A4FC-0E300C1FD8F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3661-2EB9-4A47-A23F-1D888B5C7B60}" type="datetimeFigureOut">
              <a:rPr lang="fr-FR" smtClean="0"/>
              <a:t>27/03/2011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8422-953C-4523-A4FC-0E300C1FD8F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3661-2EB9-4A47-A23F-1D888B5C7B60}" type="datetimeFigureOut">
              <a:rPr lang="fr-FR" smtClean="0"/>
              <a:t>27/03/2011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8422-953C-4523-A4FC-0E300C1FD8F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3661-2EB9-4A47-A23F-1D888B5C7B60}" type="datetimeFigureOut">
              <a:rPr lang="fr-FR" smtClean="0"/>
              <a:t>27/03/2011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8422-953C-4523-A4FC-0E300C1FD8F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83661-2EB9-4A47-A23F-1D888B5C7B60}" type="datetimeFigureOut">
              <a:rPr lang="fr-FR" smtClean="0"/>
              <a:t>27/03/2011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F8422-953C-4523-A4FC-0E300C1FD8FA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ransition spd="slow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ar.wikipedia.org/wiki/%D8%A8%D8%B1%D9%83%D8%A7%D9%86" TargetMode="External"/><Relationship Id="rId2" Type="http://schemas.openxmlformats.org/officeDocument/2006/relationships/hyperlink" Target="http://ar.wikipedia.org/wiki/%D8%B5%D9%81%D9%8A%D8%AD%D8%A9_%D8%A3%D8%B1%D8%B6%D9%8A%D8%A9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ar.wikipedia.org/wiki/%D8%A3%D9%83%D8%A7%D8%AF%D9%8A%D8%B1" TargetMode="External"/><Relationship Id="rId2" Type="http://schemas.openxmlformats.org/officeDocument/2006/relationships/hyperlink" Target="http://ar.wikipedia.org/wiki/%D8%A7%D9%84%D9%85%D8%BA%D8%B1%D8%A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ar.wikipedia.org/wiki/%D8%A7%D9%84%D8%AD%D8%B3%D9%8A%D9%85%D8%A9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ar.wikipedia.org/wiki/%D9%81%D8%A8%D8%B1%D8%A7%D9%8A%D8%B1" TargetMode="External"/><Relationship Id="rId2" Type="http://schemas.openxmlformats.org/officeDocument/2006/relationships/hyperlink" Target="http://ar.wikipedia.org/wiki/%D8%A3%D8%BA%D8%A7%D8%AF%D9%8A%D8%B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ar.wikipedia.org/wiki/%D8%AA%D8%A7%D8%B1%D9%8A%D8%AE_%D8%A7%D9%84%D9%85%D8%BA%D8%B1%D8%A8" TargetMode="External"/><Relationship Id="rId4" Type="http://schemas.openxmlformats.org/officeDocument/2006/relationships/hyperlink" Target="http://ar.wikipedia.org/wiki/1960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ar.wikipedia.org/w/index.php?title=%D8%A7%D9%8A%D8%AA_%D9%82%D9%85%D8%B1%D8%A9&amp;action=edit&amp;redlink=1" TargetMode="External"/><Relationship Id="rId3" Type="http://schemas.openxmlformats.org/officeDocument/2006/relationships/hyperlink" Target="http://ar.wikipedia.org/wiki/%D8%A7%D9%84%D9%85%D8%BA%D8%B1%D8%A8" TargetMode="External"/><Relationship Id="rId7" Type="http://schemas.openxmlformats.org/officeDocument/2006/relationships/hyperlink" Target="http://ar.wikipedia.org/wiki/%D8%A8%D9%86%D9%8A_%D8%A8%D9%88%D8%B9%D9%8A%D8%A7%D8%B4" TargetMode="External"/><Relationship Id="rId2" Type="http://schemas.openxmlformats.org/officeDocument/2006/relationships/hyperlink" Target="http://ar.wikipedia.org/wiki/%D8%A5%D9%82%D9%84%D9%8A%D9%85_%D8%A7%D9%84%D8%AD%D8%B3%D9%8A%D9%85%D8%A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r.wikipedia.org/wiki/%D8%A5%D9%85%D8%B2%D9%88%D8%B1%D9%86" TargetMode="External"/><Relationship Id="rId5" Type="http://schemas.openxmlformats.org/officeDocument/2006/relationships/hyperlink" Target="http://ar.wikipedia.org/wiki/2004" TargetMode="External"/><Relationship Id="rId4" Type="http://schemas.openxmlformats.org/officeDocument/2006/relationships/hyperlink" Target="http://ar.wikipedia.org/wiki/24_%D9%81%D8%A8%D8%B1%D8%A7%D9%8A%D8%B1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785794"/>
            <a:ext cx="7772400" cy="2814657"/>
          </a:xfrm>
        </p:spPr>
        <p:txBody>
          <a:bodyPr>
            <a:noAutofit/>
          </a:bodyPr>
          <a:lstStyle/>
          <a:p>
            <a:r>
              <a:rPr lang="ar-MA" sz="8800" i="1" dirty="0" smtClean="0"/>
              <a:t>عرض حول كارثة طبيعية</a:t>
            </a:r>
            <a:endParaRPr lang="fr-FR" sz="8800" i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57290" y="4071942"/>
            <a:ext cx="6400800" cy="2143140"/>
          </a:xfrm>
        </p:spPr>
        <p:txBody>
          <a:bodyPr>
            <a:normAutofit/>
          </a:bodyPr>
          <a:lstStyle/>
          <a:p>
            <a:r>
              <a:rPr lang="ar-MA" b="1" dirty="0" smtClean="0"/>
              <a:t> </a:t>
            </a:r>
            <a:r>
              <a:rPr lang="ar-MA" sz="8000" b="1" u="sng" dirty="0" smtClean="0">
                <a:solidFill>
                  <a:srgbClr val="FF0000"/>
                </a:solidFill>
              </a:rPr>
              <a:t>الزلازل في المغرب</a:t>
            </a:r>
            <a:endParaRPr lang="fr-FR" sz="8000" b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MA" u="sng" dirty="0" smtClean="0">
                <a:solidFill>
                  <a:srgbClr val="00B050"/>
                </a:solidFill>
              </a:rPr>
              <a:t>تعريف  الزلزال</a:t>
            </a:r>
            <a:endParaRPr lang="fr-FR" u="sng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340237"/>
          </a:xfrm>
        </p:spPr>
        <p:txBody>
          <a:bodyPr/>
          <a:lstStyle/>
          <a:p>
            <a:pPr algn="r">
              <a:buNone/>
            </a:pPr>
            <a:r>
              <a:rPr lang="ar-MA" b="1" dirty="0" smtClean="0"/>
              <a:t>الزلزال</a:t>
            </a:r>
            <a:r>
              <a:rPr lang="ar-MA" dirty="0" smtClean="0"/>
              <a:t> هو ظاهره طبيعية عبارة عن اهتزاز أرضي سريع يتبع بارتدادات تدعى أمواج زلزالية،وهذا يعود إلى تكسر الصخور وإزاحتها بسبب تراكم </a:t>
            </a:r>
            <a:r>
              <a:rPr lang="ar-MA" dirty="0" err="1" smtClean="0"/>
              <a:t>إجهادات</a:t>
            </a:r>
            <a:r>
              <a:rPr lang="ar-MA" dirty="0" smtClean="0"/>
              <a:t> داخلية نتيجة لمؤثرات جيولوجية ينجم عنها تحرك </a:t>
            </a:r>
            <a:r>
              <a:rPr lang="ar-MA" dirty="0" smtClean="0">
                <a:hlinkClick r:id="rId2" tooltip="صفيحة أرضية"/>
              </a:rPr>
              <a:t>الصفائح الأرضية</a:t>
            </a:r>
            <a:r>
              <a:rPr lang="ar-MA" dirty="0" smtClean="0"/>
              <a:t>. قد ينشأ الزلزال كنتيجة لأنشطة </a:t>
            </a:r>
            <a:r>
              <a:rPr lang="ar-MA" dirty="0" smtClean="0">
                <a:hlinkClick r:id="rId3" tooltip="بركان"/>
              </a:rPr>
              <a:t>البراكين</a:t>
            </a:r>
            <a:r>
              <a:rPr lang="ar-MA" dirty="0" smtClean="0"/>
              <a:t> أو نتيجة لوجود </a:t>
            </a:r>
            <a:r>
              <a:rPr lang="ar-MA" dirty="0" err="1" smtClean="0"/>
              <a:t>انزلاقات</a:t>
            </a:r>
            <a:r>
              <a:rPr lang="ar-MA" dirty="0" smtClean="0"/>
              <a:t> في طبقات الأرض.</a:t>
            </a:r>
            <a:endParaRPr lang="fr-FR" dirty="0"/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/>
          <a:lstStyle/>
          <a:p>
            <a:r>
              <a:rPr lang="ar-MA" u="sng" dirty="0" smtClean="0">
                <a:solidFill>
                  <a:srgbClr val="00B050"/>
                </a:solidFill>
              </a:rPr>
              <a:t>تقرير أولي عن مراكز الزلازل</a:t>
            </a:r>
            <a:endParaRPr lang="fr-FR" u="sng" dirty="0">
              <a:solidFill>
                <a:srgbClr val="00B050"/>
              </a:solidFill>
            </a:endParaRPr>
          </a:p>
        </p:txBody>
      </p:sp>
      <p:pic>
        <p:nvPicPr>
          <p:cNvPr id="4" name="Espace réservé du contenu 3" descr="Quake_epicenters_1963-98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911" y="1500174"/>
            <a:ext cx="7786742" cy="4714908"/>
          </a:xfr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MA" u="sng" dirty="0" smtClean="0">
                <a:solidFill>
                  <a:srgbClr val="00B050"/>
                </a:solidFill>
              </a:rPr>
              <a:t>الزلازل  بالمغرب</a:t>
            </a:r>
            <a:endParaRPr lang="fr-FR" u="sng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340237"/>
          </a:xfrm>
        </p:spPr>
        <p:txBody>
          <a:bodyPr/>
          <a:lstStyle/>
          <a:p>
            <a:pPr algn="r">
              <a:buNone/>
            </a:pPr>
            <a:r>
              <a:rPr lang="ar-MA" dirty="0" smtClean="0"/>
              <a:t>عرف </a:t>
            </a:r>
            <a:r>
              <a:rPr lang="ar-MA" dirty="0" smtClean="0">
                <a:hlinkClick r:id="rId2"/>
              </a:rPr>
              <a:t>المغرب</a:t>
            </a:r>
            <a:r>
              <a:rPr lang="ar-MA" dirty="0" smtClean="0"/>
              <a:t> عدة زلازل عبر التاريخ، وكان أخطرها الزلزال الذي ضرب مدينة </a:t>
            </a:r>
            <a:r>
              <a:rPr lang="ar-MA" dirty="0" err="1" smtClean="0">
                <a:hlinkClick r:id="rId3" tooltip="أكادير"/>
              </a:rPr>
              <a:t>أكادير</a:t>
            </a:r>
            <a:r>
              <a:rPr lang="ar-MA" dirty="0" smtClean="0"/>
              <a:t> سنة 1960 وكبدها أضرار بشرية ومادية، وكذا زلزال 1969 الذي ضرب كل البلاد وخلف عشرات القتلى و200 جريح، ثم الزلزال العنيف الذي هز مدينة </a:t>
            </a:r>
            <a:r>
              <a:rPr lang="ar-MA" dirty="0" err="1" smtClean="0">
                <a:hlinkClick r:id="rId4"/>
              </a:rPr>
              <a:t>الحسيمة</a:t>
            </a:r>
            <a:r>
              <a:rPr lang="ar-MA" dirty="0" smtClean="0"/>
              <a:t> في 24 فبراير 2004 وتسبب في مقتل وتشريد مئات السكان.</a:t>
            </a:r>
            <a:endParaRPr lang="fr-FR" dirty="0"/>
          </a:p>
        </p:txBody>
      </p:sp>
    </p:spTree>
  </p:cSld>
  <p:clrMapOvr>
    <a:masterClrMapping/>
  </p:clrMapOvr>
  <p:transition spd="slow">
    <p:cover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MA" u="sng" dirty="0" smtClean="0">
                <a:solidFill>
                  <a:srgbClr val="00B050"/>
                </a:solidFill>
              </a:rPr>
              <a:t>زلزال </a:t>
            </a:r>
            <a:r>
              <a:rPr lang="ar-MA" u="sng" dirty="0" err="1" smtClean="0">
                <a:solidFill>
                  <a:srgbClr val="00B050"/>
                </a:solidFill>
              </a:rPr>
              <a:t>أكادير</a:t>
            </a:r>
            <a:endParaRPr lang="fr-FR" u="sng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340237"/>
          </a:xfrm>
        </p:spPr>
        <p:txBody>
          <a:bodyPr>
            <a:normAutofit/>
          </a:bodyPr>
          <a:lstStyle/>
          <a:p>
            <a:pPr algn="r">
              <a:buNone/>
            </a:pPr>
            <a:r>
              <a:rPr lang="ar-MA" dirty="0" smtClean="0"/>
              <a:t>هو زلزال مدمر وقع </a:t>
            </a:r>
            <a:r>
              <a:rPr lang="ar-MA" dirty="0" smtClean="0">
                <a:hlinkClick r:id="rId2" tooltip="أغادير"/>
              </a:rPr>
              <a:t>بأغادير</a:t>
            </a:r>
            <a:r>
              <a:rPr lang="ar-MA" dirty="0" smtClean="0"/>
              <a:t> في 29 </a:t>
            </a:r>
            <a:r>
              <a:rPr lang="ar-MA" dirty="0" smtClean="0">
                <a:hlinkClick r:id="rId3"/>
              </a:rPr>
              <a:t>فبراير</a:t>
            </a:r>
            <a:r>
              <a:rPr lang="ar-MA" dirty="0" smtClean="0"/>
              <a:t> </a:t>
            </a:r>
            <a:r>
              <a:rPr lang="ar-MA" dirty="0" smtClean="0">
                <a:hlinkClick r:id="rId4" tooltip="1960"/>
              </a:rPr>
              <a:t>1960</a:t>
            </a:r>
            <a:r>
              <a:rPr lang="ar-MA" dirty="0" smtClean="0"/>
              <a:t> ،على الساعة 23:40 مساءا</a:t>
            </a:r>
            <a:r>
              <a:rPr lang="ar-MA" dirty="0" smtClean="0"/>
              <a:t> ودام الزلزال 15 ثانية</a:t>
            </a:r>
            <a:r>
              <a:rPr lang="ar-MA" dirty="0" smtClean="0"/>
              <a:t>. وكان أكثر الزلازل فتكا وتدميرا في </a:t>
            </a:r>
            <a:r>
              <a:rPr lang="ar-MA" dirty="0" smtClean="0">
                <a:hlinkClick r:id="rId5" tooltip="تاريخ المغرب"/>
              </a:rPr>
              <a:t>التاريخ المغربي</a:t>
            </a:r>
            <a:r>
              <a:rPr lang="ar-MA" dirty="0" smtClean="0"/>
              <a:t> بدرجة 5.7</a:t>
            </a:r>
            <a:r>
              <a:rPr lang="ar-MA" dirty="0" smtClean="0"/>
              <a:t> على سلم </a:t>
            </a:r>
            <a:r>
              <a:rPr lang="ar-MA" dirty="0" err="1" smtClean="0"/>
              <a:t>ريختر</a:t>
            </a:r>
            <a:r>
              <a:rPr lang="ar-MA" dirty="0" smtClean="0"/>
              <a:t> ،حيث قتل حوالي 15،000 نسمة (حوالي ثلث سكان المدينة في ذلك الوقت) وجرح 12،000 آخرين. وترك مالا يقل عن 35،000 شخصا بلا مأوى. وقدرت خسائره </a:t>
            </a:r>
            <a:r>
              <a:rPr lang="ar-MA" dirty="0" err="1" smtClean="0"/>
              <a:t>ب</a:t>
            </a:r>
            <a:r>
              <a:rPr lang="ar-MA" dirty="0" smtClean="0"/>
              <a:t> 290</a:t>
            </a:r>
            <a:r>
              <a:rPr lang="ar-MA" dirty="0" smtClean="0"/>
              <a:t> مليون دولار</a:t>
            </a:r>
            <a:endParaRPr lang="fr-FR" dirty="0"/>
          </a:p>
        </p:txBody>
      </p:sp>
    </p:spTree>
  </p:cSld>
  <p:clrMapOvr>
    <a:masterClrMapping/>
  </p:clrMapOvr>
  <p:transition spd="slow">
    <p:cover dir="l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MA" u="sng" dirty="0">
                <a:solidFill>
                  <a:srgbClr val="00B050"/>
                </a:solidFill>
              </a:rPr>
              <a:t>المنحنيات الزلزالية  لزلزال </a:t>
            </a:r>
            <a:r>
              <a:rPr lang="ar-MA" u="sng" dirty="0" err="1">
                <a:solidFill>
                  <a:srgbClr val="00B050"/>
                </a:solidFill>
              </a:rPr>
              <a:t>أكادير</a:t>
            </a:r>
            <a:r>
              <a:rPr lang="ar-MA" u="sng" dirty="0">
                <a:solidFill>
                  <a:srgbClr val="00B050"/>
                </a:solidFill>
              </a:rPr>
              <a:t> 1960</a:t>
            </a:r>
            <a:endParaRPr lang="fr-FR" u="sng" dirty="0">
              <a:solidFill>
                <a:srgbClr val="00B050"/>
              </a:solidFill>
            </a:endParaRPr>
          </a:p>
        </p:txBody>
      </p:sp>
      <p:pic>
        <p:nvPicPr>
          <p:cNvPr id="4" name="Espace réservé du contenu 3" descr="image013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662" y="1644361"/>
            <a:ext cx="7358114" cy="4712285"/>
          </a:xfrm>
        </p:spPr>
      </p:pic>
    </p:spTree>
  </p:cSld>
  <p:clrMapOvr>
    <a:masterClrMapping/>
  </p:clrMapOvr>
  <p:transition spd="slow"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MA" u="sng" smtClean="0">
                <a:solidFill>
                  <a:srgbClr val="00B050"/>
                </a:solidFill>
              </a:rPr>
              <a:t>زلزال الحسيمة</a:t>
            </a:r>
            <a:endParaRPr lang="fr-FR" u="sng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000660"/>
          </a:xfrm>
        </p:spPr>
        <p:txBody>
          <a:bodyPr>
            <a:normAutofit fontScale="92500"/>
          </a:bodyPr>
          <a:lstStyle/>
          <a:p>
            <a:pPr algn="r">
              <a:buNone/>
            </a:pPr>
            <a:r>
              <a:rPr lang="ar-MA" dirty="0" smtClean="0"/>
              <a:t>إحدى أعنف الزلازل التي ضربت </a:t>
            </a:r>
            <a:r>
              <a:rPr lang="ar-MA" dirty="0" smtClean="0">
                <a:hlinkClick r:id="rId2"/>
              </a:rPr>
              <a:t>إقليم </a:t>
            </a:r>
            <a:r>
              <a:rPr lang="ar-MA" dirty="0" err="1" smtClean="0">
                <a:hlinkClick r:id="rId2"/>
              </a:rPr>
              <a:t>الحسيمة</a:t>
            </a:r>
            <a:r>
              <a:rPr lang="ar-MA" dirty="0" smtClean="0"/>
              <a:t> شمال </a:t>
            </a:r>
            <a:r>
              <a:rPr lang="ar-MA" dirty="0" smtClean="0">
                <a:hlinkClick r:id="rId3"/>
              </a:rPr>
              <a:t>المغرب</a:t>
            </a:r>
            <a:r>
              <a:rPr lang="ar-MA" dirty="0" smtClean="0"/>
              <a:t> يوم </a:t>
            </a:r>
            <a:r>
              <a:rPr lang="ar-MA" dirty="0" smtClean="0">
                <a:hlinkClick r:id="rId4" tooltip="24 فبراير"/>
              </a:rPr>
              <a:t>24 فبراير</a:t>
            </a:r>
            <a:r>
              <a:rPr lang="ar-MA" dirty="0" smtClean="0">
                <a:hlinkClick r:id="rId5" tooltip="2004"/>
              </a:rPr>
              <a:t>2004</a:t>
            </a:r>
            <a:endParaRPr lang="ar-MA" dirty="0" smtClean="0"/>
          </a:p>
          <a:p>
            <a:pPr algn="r">
              <a:buNone/>
            </a:pPr>
            <a:r>
              <a:rPr lang="ar-MA" dirty="0" smtClean="0"/>
              <a:t>و قد خلف هدا الزلزال خسائر بشرية ومادية وعمرانية كبيرة. للإشارة </a:t>
            </a:r>
            <a:r>
              <a:rPr lang="ar-MA" dirty="0" err="1" smtClean="0"/>
              <a:t>فالمنااطق</a:t>
            </a:r>
            <a:r>
              <a:rPr lang="ar-MA" dirty="0" smtClean="0"/>
              <a:t> المجاورة للمدينة هي الأخرى تضررت من </a:t>
            </a:r>
            <a:r>
              <a:rPr lang="ar-MA" dirty="0" smtClean="0"/>
              <a:t>هذا الزلزال.</a:t>
            </a:r>
          </a:p>
          <a:p>
            <a:pPr algn="r">
              <a:buNone/>
            </a:pPr>
            <a:r>
              <a:rPr lang="ar-MA" dirty="0" smtClean="0"/>
              <a:t>كما خلفت صدمة في نفوس كل من الكبير والصغير.</a:t>
            </a:r>
          </a:p>
          <a:p>
            <a:pPr algn="r">
              <a:buNone/>
            </a:pPr>
            <a:r>
              <a:rPr lang="ar-MA" dirty="0" smtClean="0"/>
              <a:t>زلزال </a:t>
            </a:r>
            <a:r>
              <a:rPr lang="ar-MA" dirty="0" err="1" smtClean="0"/>
              <a:t>الحسيمة</a:t>
            </a:r>
            <a:r>
              <a:rPr lang="ar-MA" dirty="0" smtClean="0"/>
              <a:t> الذي بلغت قوته 6.5 على سلم </a:t>
            </a:r>
            <a:r>
              <a:rPr lang="ar-MA" dirty="0" err="1" smtClean="0"/>
              <a:t>ريشتر</a:t>
            </a:r>
            <a:r>
              <a:rPr lang="ar-MA" dirty="0" smtClean="0"/>
              <a:t> أسفر عن وفاة حوالي 1000 قتيل ومئات من الجرحى من ساكنة </a:t>
            </a:r>
            <a:r>
              <a:rPr lang="ar-MA" dirty="0" err="1" smtClean="0"/>
              <a:t>الحسيمة</a:t>
            </a:r>
            <a:r>
              <a:rPr lang="ar-MA" dirty="0" smtClean="0"/>
              <a:t> والمناطق المجاورة لها في </a:t>
            </a:r>
            <a:r>
              <a:rPr lang="ar-MA" dirty="0" err="1" smtClean="0">
                <a:hlinkClick r:id="rId6"/>
              </a:rPr>
              <a:t>إمزورن</a:t>
            </a:r>
            <a:r>
              <a:rPr lang="ar-MA" dirty="0" smtClean="0"/>
              <a:t> و </a:t>
            </a:r>
            <a:r>
              <a:rPr lang="ar-MA" dirty="0" smtClean="0">
                <a:hlinkClick r:id="rId7"/>
              </a:rPr>
              <a:t>بني </a:t>
            </a:r>
            <a:r>
              <a:rPr lang="ar-MA" dirty="0" err="1" smtClean="0">
                <a:hlinkClick r:id="rId7"/>
              </a:rPr>
              <a:t>بوعياش</a:t>
            </a:r>
            <a:r>
              <a:rPr lang="ar-MA" dirty="0" smtClean="0"/>
              <a:t> و </a:t>
            </a:r>
            <a:r>
              <a:rPr lang="ar-MA" dirty="0" err="1" smtClean="0">
                <a:hlinkClick r:id="rId8" tooltip="ايت قمرة (الصفحة غير موجودة)"/>
              </a:rPr>
              <a:t>ايت</a:t>
            </a:r>
            <a:r>
              <a:rPr lang="ar-MA" dirty="0" smtClean="0">
                <a:hlinkClick r:id="rId8" tooltip="ايت قمرة (الصفحة غير موجودة)"/>
              </a:rPr>
              <a:t> </a:t>
            </a:r>
            <a:r>
              <a:rPr lang="ar-MA" dirty="0" err="1" smtClean="0">
                <a:hlinkClick r:id="rId8" tooltip="ايت قمرة (الصفحة غير موجودة)"/>
              </a:rPr>
              <a:t>قمرة</a:t>
            </a:r>
            <a:r>
              <a:rPr lang="ar-MA" dirty="0" smtClean="0"/>
              <a:t> التي حددها الجيولوجيون كمركز الهزة الأرضية العنيفة.</a:t>
            </a:r>
          </a:p>
          <a:p>
            <a:pPr algn="r">
              <a:buNone/>
            </a:pPr>
            <a:endParaRPr lang="fr-FR" dirty="0"/>
          </a:p>
        </p:txBody>
      </p:sp>
    </p:spTree>
  </p:cSld>
  <p:clrMapOvr>
    <a:masterClrMapping/>
  </p:clrMapOvr>
  <p:transition spd="slow">
    <p:cover dir="l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ar-MA" u="sng" dirty="0" smtClean="0">
                <a:solidFill>
                  <a:srgbClr val="00B050"/>
                </a:solidFill>
              </a:rPr>
              <a:t>زلزال </a:t>
            </a:r>
            <a:r>
              <a:rPr lang="ar-MA" u="sng" dirty="0" err="1" smtClean="0">
                <a:solidFill>
                  <a:srgbClr val="00B050"/>
                </a:solidFill>
              </a:rPr>
              <a:t>الحسيمة</a:t>
            </a:r>
            <a:r>
              <a:rPr lang="ar-MA" u="sng" dirty="0" smtClean="0">
                <a:solidFill>
                  <a:srgbClr val="00B050"/>
                </a:solidFill>
              </a:rPr>
              <a:t> 2004</a:t>
            </a:r>
            <a:endParaRPr lang="fr-FR" u="sng" dirty="0">
              <a:solidFill>
                <a:srgbClr val="00B050"/>
              </a:solidFill>
            </a:endParaRPr>
          </a:p>
        </p:txBody>
      </p:sp>
      <p:pic>
        <p:nvPicPr>
          <p:cNvPr id="4" name="Espace réservé du contenu 3" descr="2004_Morocco_earthquak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7224" y="1361609"/>
            <a:ext cx="7429552" cy="5063476"/>
          </a:xfrm>
        </p:spPr>
      </p:pic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1214446"/>
          </a:xfrm>
        </p:spPr>
        <p:txBody>
          <a:bodyPr>
            <a:noAutofit/>
          </a:bodyPr>
          <a:lstStyle/>
          <a:p>
            <a:r>
              <a:rPr lang="ar-MA" sz="8000" i="1" u="sng" dirty="0" smtClean="0">
                <a:solidFill>
                  <a:srgbClr val="FF0000"/>
                </a:solidFill>
              </a:rPr>
              <a:t>شكرا على تتبعكم</a:t>
            </a:r>
            <a:endParaRPr lang="fr-FR" sz="8000" i="1" u="sng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643182"/>
            <a:ext cx="8229600" cy="3000396"/>
          </a:xfrm>
        </p:spPr>
        <p:txBody>
          <a:bodyPr/>
          <a:lstStyle/>
          <a:p>
            <a:pPr algn="r">
              <a:buNone/>
            </a:pPr>
            <a:r>
              <a:rPr lang="ar-MA" dirty="0" smtClean="0"/>
              <a:t>العرض من إنجاز:</a:t>
            </a:r>
            <a:endParaRPr lang="fr-FR" dirty="0" smtClean="0"/>
          </a:p>
          <a:p>
            <a:pPr algn="ctr">
              <a:buNone/>
            </a:pPr>
            <a:r>
              <a:rPr lang="ar-MA" dirty="0" smtClean="0"/>
              <a:t> </a:t>
            </a:r>
            <a:r>
              <a:rPr lang="fr-FR" dirty="0" smtClean="0"/>
              <a:t> </a:t>
            </a:r>
            <a:r>
              <a:rPr lang="ar-MA" dirty="0" smtClean="0"/>
              <a:t>ـ بدر الدين الفارسي</a:t>
            </a:r>
            <a:r>
              <a:rPr lang="fr-FR" dirty="0" smtClean="0"/>
              <a:t> </a:t>
            </a:r>
          </a:p>
          <a:p>
            <a:pPr algn="ctr">
              <a:buNone/>
            </a:pPr>
            <a:r>
              <a:rPr lang="fr-FR" dirty="0" smtClean="0"/>
              <a:t>      </a:t>
            </a:r>
            <a:r>
              <a:rPr lang="ar-MA" dirty="0" smtClean="0"/>
              <a:t>ـ حمزة </a:t>
            </a:r>
            <a:r>
              <a:rPr lang="ar-MA" dirty="0" err="1" smtClean="0"/>
              <a:t>الحيداوي</a:t>
            </a:r>
            <a:endParaRPr lang="fr-FR" dirty="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é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290</Words>
  <Application>Microsoft Office PowerPoint</Application>
  <PresentationFormat>Affichage à l'écran (4:3)</PresentationFormat>
  <Paragraphs>20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عرض حول كارثة طبيعية</vt:lpstr>
      <vt:lpstr>تعريف  الزلزال</vt:lpstr>
      <vt:lpstr>تقرير أولي عن مراكز الزلازل</vt:lpstr>
      <vt:lpstr>الزلازل  بالمغرب</vt:lpstr>
      <vt:lpstr>زلزال أكادير</vt:lpstr>
      <vt:lpstr>المنحنيات الزلزالية  لزلزال أكادير 1960</vt:lpstr>
      <vt:lpstr>زلزال الحسيمة</vt:lpstr>
      <vt:lpstr>زلزال الحسيمة 2004</vt:lpstr>
      <vt:lpstr>شكرا على تتبعكم</vt:lpstr>
    </vt:vector>
  </TitlesOfParts>
  <Company>Sweet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SWEET</dc:creator>
  <cp:lastModifiedBy>SWEET</cp:lastModifiedBy>
  <cp:revision>14</cp:revision>
  <dcterms:created xsi:type="dcterms:W3CDTF">2011-03-27T11:30:23Z</dcterms:created>
  <dcterms:modified xsi:type="dcterms:W3CDTF">2011-03-27T13:41:55Z</dcterms:modified>
</cp:coreProperties>
</file>