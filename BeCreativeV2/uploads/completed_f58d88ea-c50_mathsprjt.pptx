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Helvetica World" panose="020B0604020202020204" charset="-128"/>
      <p:regular r:id="rId23"/>
    </p:embeddedFon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  <p:embeddedFont>
      <p:font typeface="Ubuntu" panose="020B0504030602030204" pitchFamily="34" charset="0"/>
      <p:regular r:id="rId26"/>
    </p:embeddedFont>
    <p:embeddedFont>
      <p:font typeface="Ubuntu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5AD30-A5AA-4E0A-B824-D41541CF1B7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67234-4C73-4DB9-80E0-215F78BDD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67234-4C73-4DB9-80E0-215F78BDD3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8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4.svg"/><Relationship Id="rId3" Type="http://schemas.openxmlformats.org/officeDocument/2006/relationships/image" Target="../media/image17.svg"/><Relationship Id="rId7" Type="http://schemas.openxmlformats.org/officeDocument/2006/relationships/image" Target="../media/image19.svg"/><Relationship Id="rId12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4.sv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7.svg"/><Relationship Id="rId21" Type="http://schemas.openxmlformats.org/officeDocument/2006/relationships/image" Target="../media/image14.svg"/><Relationship Id="rId7" Type="http://schemas.openxmlformats.org/officeDocument/2006/relationships/image" Target="../media/image6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34.png"/><Relationship Id="rId5" Type="http://schemas.openxmlformats.org/officeDocument/2006/relationships/image" Target="../media/image4.svg"/><Relationship Id="rId15" Type="http://schemas.openxmlformats.org/officeDocument/2006/relationships/image" Target="../media/image27.svg"/><Relationship Id="rId23" Type="http://schemas.openxmlformats.org/officeDocument/2006/relationships/image" Target="../media/image33.svg"/><Relationship Id="rId10" Type="http://schemas.openxmlformats.org/officeDocument/2006/relationships/image" Target="../media/image9.png"/><Relationship Id="rId19" Type="http://schemas.openxmlformats.org/officeDocument/2006/relationships/image" Target="../media/image31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6.png"/><Relationship Id="rId22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sv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svg"/><Relationship Id="rId7" Type="http://schemas.openxmlformats.org/officeDocument/2006/relationships/image" Target="../media/image14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25.svg"/><Relationship Id="rId21" Type="http://schemas.openxmlformats.org/officeDocument/2006/relationships/image" Target="../media/image77.png"/><Relationship Id="rId7" Type="http://schemas.openxmlformats.org/officeDocument/2006/relationships/image" Target="../media/image14.sv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24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67.svg"/><Relationship Id="rId5" Type="http://schemas.openxmlformats.org/officeDocument/2006/relationships/image" Target="../media/image27.sv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26.png"/><Relationship Id="rId9" Type="http://schemas.openxmlformats.org/officeDocument/2006/relationships/image" Target="../media/image36.svg"/><Relationship Id="rId1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86.png"/><Relationship Id="rId3" Type="http://schemas.openxmlformats.org/officeDocument/2006/relationships/image" Target="../media/image79.png"/><Relationship Id="rId7" Type="http://schemas.openxmlformats.org/officeDocument/2006/relationships/image" Target="../media/image59.png"/><Relationship Id="rId12" Type="http://schemas.openxmlformats.org/officeDocument/2006/relationships/image" Target="../media/image8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0" Type="http://schemas.openxmlformats.org/officeDocument/2006/relationships/image" Target="../media/image83.png"/><Relationship Id="rId4" Type="http://schemas.openxmlformats.org/officeDocument/2006/relationships/image" Target="../media/image80.png"/><Relationship Id="rId9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25.svg"/><Relationship Id="rId7" Type="http://schemas.openxmlformats.org/officeDocument/2006/relationships/image" Target="../media/image14.sv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24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67.svg"/><Relationship Id="rId5" Type="http://schemas.openxmlformats.org/officeDocument/2006/relationships/image" Target="../media/image27.svg"/><Relationship Id="rId15" Type="http://schemas.openxmlformats.org/officeDocument/2006/relationships/image" Target="../media/image90.png"/><Relationship Id="rId10" Type="http://schemas.openxmlformats.org/officeDocument/2006/relationships/image" Target="../media/image66.png"/><Relationship Id="rId4" Type="http://schemas.openxmlformats.org/officeDocument/2006/relationships/image" Target="../media/image26.png"/><Relationship Id="rId9" Type="http://schemas.openxmlformats.org/officeDocument/2006/relationships/image" Target="../media/image36.svg"/><Relationship Id="rId14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36.svg"/><Relationship Id="rId7" Type="http://schemas.openxmlformats.org/officeDocument/2006/relationships/image" Target="../media/image9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sv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49.svg"/><Relationship Id="rId7" Type="http://schemas.openxmlformats.org/officeDocument/2006/relationships/image" Target="../media/image14.svg"/><Relationship Id="rId12" Type="http://schemas.openxmlformats.org/officeDocument/2006/relationships/image" Target="../media/image119.png"/><Relationship Id="rId2" Type="http://schemas.openxmlformats.org/officeDocument/2006/relationships/image" Target="../media/image48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18.png"/><Relationship Id="rId5" Type="http://schemas.openxmlformats.org/officeDocument/2006/relationships/image" Target="../media/image51.sv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50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1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3" Type="http://schemas.openxmlformats.org/officeDocument/2006/relationships/image" Target="../media/image25.svg"/><Relationship Id="rId21" Type="http://schemas.openxmlformats.org/officeDocument/2006/relationships/image" Target="../media/image135.png"/><Relationship Id="rId7" Type="http://schemas.openxmlformats.org/officeDocument/2006/relationships/image" Target="../media/image14.sv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39.png"/><Relationship Id="rId2" Type="http://schemas.openxmlformats.org/officeDocument/2006/relationships/image" Target="../media/image24.png"/><Relationship Id="rId16" Type="http://schemas.openxmlformats.org/officeDocument/2006/relationships/image" Target="../media/image131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67.svg"/><Relationship Id="rId24" Type="http://schemas.openxmlformats.org/officeDocument/2006/relationships/image" Target="../media/image138.png"/><Relationship Id="rId5" Type="http://schemas.openxmlformats.org/officeDocument/2006/relationships/image" Target="../media/image27.svg"/><Relationship Id="rId15" Type="http://schemas.openxmlformats.org/officeDocument/2006/relationships/image" Target="../media/image130.png"/><Relationship Id="rId23" Type="http://schemas.openxmlformats.org/officeDocument/2006/relationships/image" Target="../media/image137.png"/><Relationship Id="rId10" Type="http://schemas.openxmlformats.org/officeDocument/2006/relationships/image" Target="../media/image66.png"/><Relationship Id="rId19" Type="http://schemas.openxmlformats.org/officeDocument/2006/relationships/image" Target="../media/image59.png"/><Relationship Id="rId4" Type="http://schemas.openxmlformats.org/officeDocument/2006/relationships/image" Target="../media/image26.png"/><Relationship Id="rId9" Type="http://schemas.openxmlformats.org/officeDocument/2006/relationships/image" Target="../media/image36.svg"/><Relationship Id="rId14" Type="http://schemas.openxmlformats.org/officeDocument/2006/relationships/image" Target="../media/image129.png"/><Relationship Id="rId22" Type="http://schemas.openxmlformats.org/officeDocument/2006/relationships/image" Target="../media/image1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3" Type="http://schemas.openxmlformats.org/officeDocument/2006/relationships/image" Target="../media/image126.svg"/><Relationship Id="rId21" Type="http://schemas.openxmlformats.org/officeDocument/2006/relationships/image" Target="../media/image156.png"/><Relationship Id="rId7" Type="http://schemas.openxmlformats.org/officeDocument/2006/relationships/image" Target="../media/image143.png"/><Relationship Id="rId12" Type="http://schemas.openxmlformats.org/officeDocument/2006/relationships/image" Target="../media/image59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image" Target="../media/image125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24" Type="http://schemas.openxmlformats.org/officeDocument/2006/relationships/image" Target="../media/image159.png"/><Relationship Id="rId5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10" Type="http://schemas.openxmlformats.org/officeDocument/2006/relationships/image" Target="../media/image146.png"/><Relationship Id="rId19" Type="http://schemas.openxmlformats.org/officeDocument/2006/relationships/image" Target="../media/image154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3" Type="http://schemas.openxmlformats.org/officeDocument/2006/relationships/image" Target="../media/image162.svg"/><Relationship Id="rId7" Type="http://schemas.openxmlformats.org/officeDocument/2006/relationships/image" Target="../media/image166.svg"/><Relationship Id="rId12" Type="http://schemas.openxmlformats.org/officeDocument/2006/relationships/image" Target="../media/image17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4.svg"/><Relationship Id="rId10" Type="http://schemas.openxmlformats.org/officeDocument/2006/relationships/image" Target="../media/image169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svg"/><Relationship Id="rId7" Type="http://schemas.openxmlformats.org/officeDocument/2006/relationships/image" Target="../media/image175.sv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5" Type="http://schemas.openxmlformats.org/officeDocument/2006/relationships/image" Target="../media/image166.svg"/><Relationship Id="rId4" Type="http://schemas.openxmlformats.org/officeDocument/2006/relationships/image" Target="../media/image16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17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7.svg"/><Relationship Id="rId1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Syst%C3%A8me_d%27%C3%A9quations_lin%C3%A9aires" TargetMode="External"/><Relationship Id="rId13" Type="http://schemas.openxmlformats.org/officeDocument/2006/relationships/hyperlink" Target="https://www.alloschool.com/element/110809" TargetMode="External"/><Relationship Id="rId3" Type="http://schemas.openxmlformats.org/officeDocument/2006/relationships/image" Target="../media/image126.svg"/><Relationship Id="rId7" Type="http://schemas.openxmlformats.org/officeDocument/2006/relationships/hyperlink" Target="https://fr.wikipedia.org/wiki/Discriminant" TargetMode="External"/><Relationship Id="rId12" Type="http://schemas.openxmlformats.org/officeDocument/2006/relationships/hyperlink" Target="https://www.alloschool.com/element/96032" TargetMode="External"/><Relationship Id="rId2" Type="http://schemas.openxmlformats.org/officeDocument/2006/relationships/image" Target="../media/image125.png"/><Relationship Id="rId16" Type="http://schemas.openxmlformats.org/officeDocument/2006/relationships/hyperlink" Target="https://dyrassa.com/soutien-scolaire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.wikipedia.org/wiki/%C3%89quation_du_second_degr%C3%A9" TargetMode="External"/><Relationship Id="rId11" Type="http://schemas.openxmlformats.org/officeDocument/2006/relationships/hyperlink" Target="https://www.alloschool.com/element/110741" TargetMode="External"/><Relationship Id="rId5" Type="http://schemas.openxmlformats.org/officeDocument/2006/relationships/image" Target="../media/image166.svg"/><Relationship Id="rId15" Type="http://schemas.openxmlformats.org/officeDocument/2006/relationships/hyperlink" Target="https://www.alloschool.com/element/110782" TargetMode="External"/><Relationship Id="rId10" Type="http://schemas.openxmlformats.org/officeDocument/2006/relationships/hyperlink" Target="https://fr.wikipedia.org/wiki/D%C3%A9terminant" TargetMode="External"/><Relationship Id="rId4" Type="http://schemas.openxmlformats.org/officeDocument/2006/relationships/image" Target="../media/image165.png"/><Relationship Id="rId9" Type="http://schemas.openxmlformats.org/officeDocument/2006/relationships/hyperlink" Target="https://fr.wikipedia.org/wiki/R%C3%A8gle_de_Cramer" TargetMode="External"/><Relationship Id="rId14" Type="http://schemas.openxmlformats.org/officeDocument/2006/relationships/hyperlink" Target="https://www.alloschool.com/element/11078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4935" y="604434"/>
            <a:ext cx="6055807" cy="60558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63617" y="45143"/>
                  </a:lnTo>
                  <a:lnTo>
                    <a:pt x="531984" y="19891"/>
                  </a:lnTo>
                  <a:lnTo>
                    <a:pt x="572451" y="80505"/>
                  </a:lnTo>
                  <a:lnTo>
                    <a:pt x="645276" y="77616"/>
                  </a:lnTo>
                  <a:lnTo>
                    <a:pt x="665032" y="147768"/>
                  </a:lnTo>
                  <a:lnTo>
                    <a:pt x="735184" y="167524"/>
                  </a:lnTo>
                  <a:lnTo>
                    <a:pt x="732295" y="240349"/>
                  </a:lnTo>
                  <a:lnTo>
                    <a:pt x="792909" y="280816"/>
                  </a:lnTo>
                  <a:lnTo>
                    <a:pt x="767657" y="349183"/>
                  </a:lnTo>
                  <a:lnTo>
                    <a:pt x="812800" y="406400"/>
                  </a:lnTo>
                  <a:lnTo>
                    <a:pt x="767657" y="463617"/>
                  </a:lnTo>
                  <a:lnTo>
                    <a:pt x="792909" y="531984"/>
                  </a:lnTo>
                  <a:lnTo>
                    <a:pt x="732295" y="572451"/>
                  </a:lnTo>
                  <a:lnTo>
                    <a:pt x="735184" y="645276"/>
                  </a:lnTo>
                  <a:lnTo>
                    <a:pt x="665032" y="665032"/>
                  </a:lnTo>
                  <a:lnTo>
                    <a:pt x="645276" y="735184"/>
                  </a:lnTo>
                  <a:lnTo>
                    <a:pt x="572451" y="732295"/>
                  </a:lnTo>
                  <a:lnTo>
                    <a:pt x="531984" y="792909"/>
                  </a:lnTo>
                  <a:lnTo>
                    <a:pt x="463617" y="767657"/>
                  </a:lnTo>
                  <a:lnTo>
                    <a:pt x="406400" y="812800"/>
                  </a:lnTo>
                  <a:lnTo>
                    <a:pt x="349183" y="767657"/>
                  </a:lnTo>
                  <a:lnTo>
                    <a:pt x="280816" y="792909"/>
                  </a:lnTo>
                  <a:lnTo>
                    <a:pt x="240349" y="732295"/>
                  </a:lnTo>
                  <a:lnTo>
                    <a:pt x="167524" y="735184"/>
                  </a:lnTo>
                  <a:lnTo>
                    <a:pt x="147768" y="665032"/>
                  </a:lnTo>
                  <a:lnTo>
                    <a:pt x="77616" y="645276"/>
                  </a:lnTo>
                  <a:lnTo>
                    <a:pt x="80505" y="572451"/>
                  </a:lnTo>
                  <a:lnTo>
                    <a:pt x="19891" y="531984"/>
                  </a:lnTo>
                  <a:lnTo>
                    <a:pt x="45143" y="463617"/>
                  </a:lnTo>
                  <a:lnTo>
                    <a:pt x="0" y="406400"/>
                  </a:lnTo>
                  <a:lnTo>
                    <a:pt x="45143" y="349183"/>
                  </a:lnTo>
                  <a:lnTo>
                    <a:pt x="19891" y="280816"/>
                  </a:lnTo>
                  <a:lnTo>
                    <a:pt x="80505" y="240349"/>
                  </a:lnTo>
                  <a:lnTo>
                    <a:pt x="77616" y="167524"/>
                  </a:lnTo>
                  <a:lnTo>
                    <a:pt x="147768" y="147768"/>
                  </a:lnTo>
                  <a:lnTo>
                    <a:pt x="167524" y="77616"/>
                  </a:lnTo>
                  <a:lnTo>
                    <a:pt x="240349" y="80505"/>
                  </a:lnTo>
                  <a:lnTo>
                    <a:pt x="280816" y="19891"/>
                  </a:lnTo>
                  <a:lnTo>
                    <a:pt x="349183" y="45143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38100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8900" y="60325"/>
              <a:ext cx="6350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033718" y="2042217"/>
            <a:ext cx="9032888" cy="7971524"/>
          </a:xfrm>
          <a:custGeom>
            <a:avLst/>
            <a:gdLst/>
            <a:ahLst/>
            <a:cxnLst/>
            <a:rect l="l" t="t" r="r" b="b"/>
            <a:pathLst>
              <a:path w="9032888" h="7971524">
                <a:moveTo>
                  <a:pt x="0" y="0"/>
                </a:moveTo>
                <a:lnTo>
                  <a:pt x="9032888" y="0"/>
                </a:lnTo>
                <a:lnTo>
                  <a:pt x="9032888" y="7971523"/>
                </a:lnTo>
                <a:lnTo>
                  <a:pt x="0" y="7971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235590" y="3129763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7" y="0"/>
                </a:lnTo>
                <a:lnTo>
                  <a:pt x="3318417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9675319" y="6448179"/>
            <a:ext cx="7245597" cy="1986281"/>
            <a:chOff x="0" y="0"/>
            <a:chExt cx="675856" cy="1852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5856" cy="185277"/>
            </a:xfrm>
            <a:custGeom>
              <a:avLst/>
              <a:gdLst/>
              <a:ahLst/>
              <a:cxnLst/>
              <a:rect l="l" t="t" r="r" b="b"/>
              <a:pathLst>
                <a:path w="675856" h="185277">
                  <a:moveTo>
                    <a:pt x="0" y="0"/>
                  </a:moveTo>
                  <a:lnTo>
                    <a:pt x="675856" y="0"/>
                  </a:lnTo>
                  <a:lnTo>
                    <a:pt x="675856" y="185277"/>
                  </a:lnTo>
                  <a:lnTo>
                    <a:pt x="0" y="185277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675856" cy="213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178850" y="4425296"/>
            <a:ext cx="1602683" cy="1602683"/>
          </a:xfrm>
          <a:custGeom>
            <a:avLst/>
            <a:gdLst/>
            <a:ahLst/>
            <a:cxnLst/>
            <a:rect l="l" t="t" r="r" b="b"/>
            <a:pathLst>
              <a:path w="1602683" h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4178850" y="4240775"/>
            <a:ext cx="1602683" cy="1602683"/>
          </a:xfrm>
          <a:custGeom>
            <a:avLst/>
            <a:gdLst/>
            <a:ahLst/>
            <a:cxnLst/>
            <a:rect l="l" t="t" r="r" b="b"/>
            <a:pathLst>
              <a:path w="1602683" h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4178850" y="3973311"/>
            <a:ext cx="1602683" cy="1602683"/>
          </a:xfrm>
          <a:custGeom>
            <a:avLst/>
            <a:gdLst/>
            <a:ahLst/>
            <a:cxnLst/>
            <a:rect l="l" t="t" r="r" b="b"/>
            <a:pathLst>
              <a:path w="1602683" h="1602683">
                <a:moveTo>
                  <a:pt x="0" y="0"/>
                </a:moveTo>
                <a:lnTo>
                  <a:pt x="1602683" y="0"/>
                </a:lnTo>
                <a:lnTo>
                  <a:pt x="1602683" y="1602683"/>
                </a:lnTo>
                <a:lnTo>
                  <a:pt x="0" y="1602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448374" y="790853"/>
            <a:ext cx="446425" cy="707590"/>
          </a:xfrm>
          <a:custGeom>
            <a:avLst/>
            <a:gdLst/>
            <a:ahLst/>
            <a:cxnLst/>
            <a:rect l="l" t="t" r="r" b="b"/>
            <a:pathLst>
              <a:path w="446425" h="707590">
                <a:moveTo>
                  <a:pt x="0" y="0"/>
                </a:moveTo>
                <a:lnTo>
                  <a:pt x="446425" y="0"/>
                </a:lnTo>
                <a:lnTo>
                  <a:pt x="446425" y="707590"/>
                </a:lnTo>
                <a:lnTo>
                  <a:pt x="0" y="7075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AutoShape 14"/>
          <p:cNvSpPr/>
          <p:nvPr/>
        </p:nvSpPr>
        <p:spPr>
          <a:xfrm>
            <a:off x="-1429255" y="1565795"/>
            <a:ext cx="4590707" cy="4590707"/>
          </a:xfrm>
          <a:prstGeom prst="line">
            <a:avLst/>
          </a:prstGeom>
          <a:ln w="190500" cap="flat">
            <a:solidFill>
              <a:srgbClr val="242424"/>
            </a:solidFill>
            <a:prstDash val="solid"/>
            <a:headEnd type="arrow" w="med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 rot="-500495">
            <a:off x="5503718" y="9295665"/>
            <a:ext cx="555630" cy="55563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096713" y="8617271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5121418" y="-147463"/>
            <a:ext cx="3166582" cy="2584222"/>
          </a:xfrm>
          <a:custGeom>
            <a:avLst/>
            <a:gdLst/>
            <a:ahLst/>
            <a:cxnLst/>
            <a:rect l="l" t="t" r="r" b="b"/>
            <a:pathLst>
              <a:path w="3166582" h="2584222">
                <a:moveTo>
                  <a:pt x="0" y="0"/>
                </a:moveTo>
                <a:lnTo>
                  <a:pt x="3166582" y="0"/>
                </a:lnTo>
                <a:lnTo>
                  <a:pt x="3166582" y="2584222"/>
                </a:lnTo>
                <a:lnTo>
                  <a:pt x="0" y="25842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470589" y="2108892"/>
            <a:ext cx="8395977" cy="5506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80"/>
              </a:lnSpc>
            </a:pPr>
            <a:r>
              <a:rPr lang="en-US" sz="98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Équations, inéquations et systèmes</a:t>
            </a:r>
          </a:p>
          <a:p>
            <a:pPr marL="0" lvl="0" indent="0" algn="l">
              <a:lnSpc>
                <a:spcPts val="10780"/>
              </a:lnSpc>
            </a:pPr>
            <a:endParaRPr lang="en-US" sz="9800" b="1">
              <a:solidFill>
                <a:srgbClr val="242424"/>
              </a:solidFill>
              <a:latin typeface="Ubuntu Bold"/>
              <a:ea typeface="Ubuntu Bold"/>
              <a:cs typeface="Ubuntu Bold"/>
              <a:sym typeface="Ubuntu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144000" y="6798700"/>
            <a:ext cx="8231151" cy="123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Exploration des équations du second degré à une variable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0" y="9224229"/>
            <a:ext cx="8308236" cy="33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RÉALISÉ PAR : NABIL JOUAT - YASSER OUAFIQ - ADAM DIFAA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220230" y="3198859"/>
            <a:ext cx="3276" cy="605947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34036" y="2817859"/>
            <a:ext cx="381000" cy="3810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804806"/>
            <a:ext cx="381000" cy="3810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026609" y="1825084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3771816" y="2145598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7" y="0"/>
                </a:lnTo>
                <a:lnTo>
                  <a:pt x="3318417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0199167" y="2508861"/>
            <a:ext cx="6173749" cy="8835419"/>
          </a:xfrm>
          <a:custGeom>
            <a:avLst/>
            <a:gdLst/>
            <a:ahLst/>
            <a:cxnLst/>
            <a:rect l="l" t="t" r="r" b="b"/>
            <a:pathLst>
              <a:path w="6173749" h="8835419">
                <a:moveTo>
                  <a:pt x="0" y="0"/>
                </a:moveTo>
                <a:lnTo>
                  <a:pt x="6173749" y="0"/>
                </a:lnTo>
                <a:lnTo>
                  <a:pt x="6173749" y="8835419"/>
                </a:lnTo>
                <a:lnTo>
                  <a:pt x="0" y="8835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11341391" y="4724988"/>
            <a:ext cx="570051" cy="57005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341391" y="6356519"/>
            <a:ext cx="570051" cy="57005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3810172" y="4423879"/>
            <a:ext cx="3865280" cy="3865280"/>
          </a:xfrm>
          <a:custGeom>
            <a:avLst/>
            <a:gdLst/>
            <a:ahLst/>
            <a:cxnLst/>
            <a:rect l="l" t="t" r="r" b="b"/>
            <a:pathLst>
              <a:path w="3865280" h="3865280">
                <a:moveTo>
                  <a:pt x="0" y="0"/>
                </a:moveTo>
                <a:lnTo>
                  <a:pt x="3865280" y="0"/>
                </a:lnTo>
                <a:lnTo>
                  <a:pt x="3865280" y="3865280"/>
                </a:lnTo>
                <a:lnTo>
                  <a:pt x="0" y="3865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 flipV="1">
            <a:off x="11626416" y="6621045"/>
            <a:ext cx="6661584" cy="6637360"/>
          </a:xfrm>
          <a:custGeom>
            <a:avLst/>
            <a:gdLst/>
            <a:ahLst/>
            <a:cxnLst/>
            <a:rect l="l" t="t" r="r" b="b"/>
            <a:pathLst>
              <a:path w="6661584" h="6637360">
                <a:moveTo>
                  <a:pt x="0" y="6637359"/>
                </a:moveTo>
                <a:lnTo>
                  <a:pt x="6661584" y="6637359"/>
                </a:lnTo>
                <a:lnTo>
                  <a:pt x="6661584" y="0"/>
                </a:lnTo>
                <a:lnTo>
                  <a:pt x="0" y="0"/>
                </a:lnTo>
                <a:lnTo>
                  <a:pt x="0" y="663735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11341391" y="7988050"/>
            <a:ext cx="570051" cy="57005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70923" y="2675302"/>
            <a:ext cx="6587627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70923" y="3662249"/>
            <a:ext cx="8328243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3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Définition du trinôme + discriminant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9200" y="748759"/>
            <a:ext cx="7245597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Plan du projet</a:t>
            </a:r>
          </a:p>
        </p:txBody>
      </p:sp>
      <p:sp>
        <p:nvSpPr>
          <p:cNvPr id="26" name="Freeform 26"/>
          <p:cNvSpPr/>
          <p:nvPr/>
        </p:nvSpPr>
        <p:spPr>
          <a:xfrm>
            <a:off x="12625187" y="1504569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AutoShape 27"/>
          <p:cNvSpPr/>
          <p:nvPr/>
        </p:nvSpPr>
        <p:spPr>
          <a:xfrm flipH="1">
            <a:off x="1219200" y="4185806"/>
            <a:ext cx="0" cy="603272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1034036" y="4667567"/>
            <a:ext cx="381000" cy="38100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716064" y="4525010"/>
            <a:ext cx="6368552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9"/>
              </a:lnSpc>
              <a:spcBef>
                <a:spcPct val="0"/>
              </a:spcBef>
            </a:pPr>
            <a:r>
              <a:rPr lang="en-US" sz="3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Équation du second degré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34036" y="5558947"/>
            <a:ext cx="381000" cy="38100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4036" y="6545571"/>
            <a:ext cx="381000" cy="38100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38" name="AutoShape 38"/>
          <p:cNvSpPr/>
          <p:nvPr/>
        </p:nvSpPr>
        <p:spPr>
          <a:xfrm>
            <a:off x="1224536" y="5089885"/>
            <a:ext cx="0" cy="469062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39"/>
          <p:cNvSpPr/>
          <p:nvPr/>
        </p:nvSpPr>
        <p:spPr>
          <a:xfrm>
            <a:off x="1224536" y="5939947"/>
            <a:ext cx="0" cy="605624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TextBox 40"/>
          <p:cNvSpPr txBox="1"/>
          <p:nvPr/>
        </p:nvSpPr>
        <p:spPr>
          <a:xfrm>
            <a:off x="1478094" y="5421063"/>
            <a:ext cx="3860397" cy="585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  <a:spcBef>
                <a:spcPct val="0"/>
              </a:spcBef>
            </a:pPr>
            <a:r>
              <a:rPr lang="en-US" sz="38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Factorisation</a:t>
            </a:r>
            <a:endParaRPr lang="en-US" sz="38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663039" y="6300229"/>
            <a:ext cx="7210872" cy="585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  <a:spcBef>
                <a:spcPct val="0"/>
              </a:spcBef>
            </a:pPr>
            <a:r>
              <a:rPr lang="en-US" sz="38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Inéquations</a:t>
            </a:r>
            <a:r>
              <a:rPr lang="en-US" sz="38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du second </a:t>
            </a:r>
            <a:r>
              <a:rPr lang="en-US" sz="38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degré</a:t>
            </a:r>
            <a:endParaRPr lang="en-US" sz="38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1034036" y="7506174"/>
            <a:ext cx="381000" cy="381000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45" name="AutoShape 45"/>
          <p:cNvSpPr/>
          <p:nvPr/>
        </p:nvSpPr>
        <p:spPr>
          <a:xfrm>
            <a:off x="1223506" y="6926571"/>
            <a:ext cx="775" cy="579604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6" name="TextBox 46"/>
          <p:cNvSpPr txBox="1"/>
          <p:nvPr/>
        </p:nvSpPr>
        <p:spPr>
          <a:xfrm>
            <a:off x="1793494" y="7276939"/>
            <a:ext cx="8483102" cy="61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  <a:spcBef>
                <a:spcPct val="0"/>
              </a:spcBef>
            </a:pPr>
            <a:r>
              <a:rPr lang="en-US" sz="37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Systèmes (méthode du déterminant)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34036" y="8512509"/>
            <a:ext cx="381000" cy="381000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0" name="AutoShape 50"/>
          <p:cNvSpPr/>
          <p:nvPr/>
        </p:nvSpPr>
        <p:spPr>
          <a:xfrm>
            <a:off x="1220230" y="7800100"/>
            <a:ext cx="388" cy="712340"/>
          </a:xfrm>
          <a:prstGeom prst="line">
            <a:avLst/>
          </a:prstGeom>
          <a:ln w="28575" cap="flat">
            <a:solidFill>
              <a:srgbClr val="24242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TextBox 51"/>
          <p:cNvSpPr txBox="1"/>
          <p:nvPr/>
        </p:nvSpPr>
        <p:spPr>
          <a:xfrm>
            <a:off x="1930803" y="8241534"/>
            <a:ext cx="2522577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9"/>
              </a:lnSpc>
              <a:spcBef>
                <a:spcPct val="0"/>
              </a:spcBef>
            </a:pPr>
            <a:r>
              <a:rPr lang="en-US" sz="3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74086" y="6838794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3850178" y="7144356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7" y="0"/>
                </a:lnTo>
                <a:lnTo>
                  <a:pt x="3318417" y="3318417"/>
                </a:lnTo>
                <a:lnTo>
                  <a:pt x="0" y="3318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2880535" y="2538071"/>
            <a:ext cx="1786008" cy="1786008"/>
          </a:xfrm>
          <a:custGeom>
            <a:avLst/>
            <a:gdLst/>
            <a:ahLst/>
            <a:cxnLst/>
            <a:rect l="l" t="t" r="r" b="b"/>
            <a:pathLst>
              <a:path w="1786008" h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2880535" y="2134618"/>
            <a:ext cx="1786008" cy="1786008"/>
          </a:xfrm>
          <a:custGeom>
            <a:avLst/>
            <a:gdLst/>
            <a:ahLst/>
            <a:cxnLst/>
            <a:rect l="l" t="t" r="r" b="b"/>
            <a:pathLst>
              <a:path w="1786008" h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2880535" y="1645067"/>
            <a:ext cx="1786008" cy="1786008"/>
          </a:xfrm>
          <a:custGeom>
            <a:avLst/>
            <a:gdLst/>
            <a:ahLst/>
            <a:cxnLst/>
            <a:rect l="l" t="t" r="r" b="b"/>
            <a:pathLst>
              <a:path w="1786008" h="1786008">
                <a:moveTo>
                  <a:pt x="0" y="0"/>
                </a:moveTo>
                <a:lnTo>
                  <a:pt x="1786008" y="0"/>
                </a:lnTo>
                <a:lnTo>
                  <a:pt x="1786008" y="1786008"/>
                </a:lnTo>
                <a:lnTo>
                  <a:pt x="0" y="1786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AutoShape 7"/>
          <p:cNvSpPr/>
          <p:nvPr/>
        </p:nvSpPr>
        <p:spPr>
          <a:xfrm>
            <a:off x="14141438" y="7422689"/>
            <a:ext cx="2129265" cy="2129265"/>
          </a:xfrm>
          <a:prstGeom prst="line">
            <a:avLst/>
          </a:prstGeom>
          <a:ln w="95250" cap="flat">
            <a:solidFill>
              <a:srgbClr val="242424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8" name="Freeform 8"/>
          <p:cNvSpPr/>
          <p:nvPr/>
        </p:nvSpPr>
        <p:spPr>
          <a:xfrm flipV="1">
            <a:off x="15322564" y="7741157"/>
            <a:ext cx="4849741" cy="4832106"/>
          </a:xfrm>
          <a:custGeom>
            <a:avLst/>
            <a:gdLst/>
            <a:ahLst/>
            <a:cxnLst/>
            <a:rect l="l" t="t" r="r" b="b"/>
            <a:pathLst>
              <a:path w="4849741" h="4832106">
                <a:moveTo>
                  <a:pt x="0" y="4832106"/>
                </a:moveTo>
                <a:lnTo>
                  <a:pt x="4849742" y="4832106"/>
                </a:lnTo>
                <a:lnTo>
                  <a:pt x="4849742" y="0"/>
                </a:lnTo>
                <a:lnTo>
                  <a:pt x="0" y="0"/>
                </a:lnTo>
                <a:lnTo>
                  <a:pt x="0" y="4832106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-445897" y="7875134"/>
            <a:ext cx="2759425" cy="275942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V="1">
            <a:off x="15322564" y="-1478480"/>
            <a:ext cx="4506102" cy="4506102"/>
          </a:xfrm>
          <a:custGeom>
            <a:avLst/>
            <a:gdLst/>
            <a:ahLst/>
            <a:cxnLst/>
            <a:rect l="l" t="t" r="r" b="b"/>
            <a:pathLst>
              <a:path w="4506102" h="4506102">
                <a:moveTo>
                  <a:pt x="0" y="4506102"/>
                </a:moveTo>
                <a:lnTo>
                  <a:pt x="4506102" y="4506102"/>
                </a:lnTo>
                <a:lnTo>
                  <a:pt x="4506102" y="0"/>
                </a:lnTo>
                <a:lnTo>
                  <a:pt x="0" y="0"/>
                </a:lnTo>
                <a:lnTo>
                  <a:pt x="0" y="4506102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-3367509" y="356752"/>
            <a:ext cx="5843225" cy="6172200"/>
          </a:xfrm>
          <a:custGeom>
            <a:avLst/>
            <a:gdLst/>
            <a:ahLst/>
            <a:cxnLst/>
            <a:rect l="l" t="t" r="r" b="b"/>
            <a:pathLst>
              <a:path w="5843225" h="6172200">
                <a:moveTo>
                  <a:pt x="0" y="0"/>
                </a:moveTo>
                <a:lnTo>
                  <a:pt x="5843225" y="0"/>
                </a:lnTo>
                <a:lnTo>
                  <a:pt x="58432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083614" y="5386623"/>
            <a:ext cx="3132515" cy="4053843"/>
          </a:xfrm>
          <a:custGeom>
            <a:avLst/>
            <a:gdLst/>
            <a:ahLst/>
            <a:cxnLst/>
            <a:rect l="l" t="t" r="r" b="b"/>
            <a:pathLst>
              <a:path w="3132515" h="4053843">
                <a:moveTo>
                  <a:pt x="0" y="0"/>
                </a:moveTo>
                <a:lnTo>
                  <a:pt x="3132515" y="0"/>
                </a:lnTo>
                <a:lnTo>
                  <a:pt x="3132515" y="4053843"/>
                </a:lnTo>
                <a:lnTo>
                  <a:pt x="0" y="40538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4321813" y="2460346"/>
            <a:ext cx="1000752" cy="970729"/>
          </a:xfrm>
          <a:custGeom>
            <a:avLst/>
            <a:gdLst/>
            <a:ahLst/>
            <a:cxnLst/>
            <a:rect l="l" t="t" r="r" b="b"/>
            <a:pathLst>
              <a:path w="1000752" h="970729">
                <a:moveTo>
                  <a:pt x="0" y="0"/>
                </a:moveTo>
                <a:lnTo>
                  <a:pt x="1000751" y="0"/>
                </a:lnTo>
                <a:lnTo>
                  <a:pt x="1000751" y="970729"/>
                </a:lnTo>
                <a:lnTo>
                  <a:pt x="0" y="9707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 rot="5400000" flipH="1">
            <a:off x="15514931" y="3890107"/>
            <a:ext cx="2177011" cy="2238048"/>
          </a:xfrm>
          <a:custGeom>
            <a:avLst/>
            <a:gdLst/>
            <a:ahLst/>
            <a:cxnLst/>
            <a:rect l="l" t="t" r="r" b="b"/>
            <a:pathLst>
              <a:path w="2177011" h="2238048">
                <a:moveTo>
                  <a:pt x="2177011" y="0"/>
                </a:moveTo>
                <a:lnTo>
                  <a:pt x="0" y="0"/>
                </a:lnTo>
                <a:lnTo>
                  <a:pt x="0" y="2238049"/>
                </a:lnTo>
                <a:lnTo>
                  <a:pt x="2177011" y="2238049"/>
                </a:lnTo>
                <a:lnTo>
                  <a:pt x="2177011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7" name="Group 17"/>
          <p:cNvGrpSpPr/>
          <p:nvPr/>
        </p:nvGrpSpPr>
        <p:grpSpPr>
          <a:xfrm>
            <a:off x="5076118" y="2538071"/>
            <a:ext cx="9292913" cy="5028406"/>
            <a:chOff x="0" y="0"/>
            <a:chExt cx="866826" cy="4690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6826" cy="469041"/>
            </a:xfrm>
            <a:custGeom>
              <a:avLst/>
              <a:gdLst/>
              <a:ahLst/>
              <a:cxnLst/>
              <a:rect l="l" t="t" r="r" b="b"/>
              <a:pathLst>
                <a:path w="866826" h="469041">
                  <a:moveTo>
                    <a:pt x="0" y="0"/>
                  </a:moveTo>
                  <a:lnTo>
                    <a:pt x="866826" y="0"/>
                  </a:lnTo>
                  <a:lnTo>
                    <a:pt x="866826" y="469041"/>
                  </a:lnTo>
                  <a:lnTo>
                    <a:pt x="0" y="469041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66826" cy="497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L’équation du second degré occupe une place importante en algèbre. Elle permet d’étudier le trinôme :</a:t>
              </a:r>
            </a:p>
            <a:p>
              <a:pPr algn="ctr">
                <a:lnSpc>
                  <a:spcPts val="3250"/>
                </a:lnSpc>
              </a:pPr>
              <a:endPara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algn="ctr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</a:p>
            <a:p>
              <a:pPr algn="ctr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et d’analyser ses solutions à l’aide du discriminant.</a:t>
              </a:r>
            </a:p>
            <a:p>
              <a:pPr algn="ctr">
                <a:lnSpc>
                  <a:spcPts val="3250"/>
                </a:lnSpc>
              </a:pPr>
              <a:r>
                <a:rPr lang="en-US" sz="25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Ce chapitre regroupe plusieurs notions essentielles : résolution d’équations, factorisation, étude du signe et résolution d’inéquations. Il constitue ainsi une étape fondamentale dans la maîtrise des méthodes algébriques.</a:t>
              </a:r>
            </a:p>
            <a:p>
              <a:pPr algn="ctr">
                <a:lnSpc>
                  <a:spcPts val="3250"/>
                </a:lnSpc>
              </a:pPr>
              <a:endParaRPr lang="en-US" sz="2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668571" y="1587917"/>
            <a:ext cx="5218629" cy="775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52447" y="3543300"/>
            <a:ext cx="3183106" cy="10128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88894" y="-159487"/>
            <a:ext cx="10864830" cy="10691709"/>
            <a:chOff x="0" y="0"/>
            <a:chExt cx="9621263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1263" cy="9467958"/>
            </a:xfrm>
            <a:custGeom>
              <a:avLst/>
              <a:gdLst/>
              <a:ahLst/>
              <a:cxnLst/>
              <a:rect l="l" t="t" r="r" b="b"/>
              <a:pathLst>
                <a:path w="9621263" h="9467958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0434" y="4908843"/>
            <a:ext cx="5414246" cy="2988988"/>
            <a:chOff x="0" y="0"/>
            <a:chExt cx="7218994" cy="398531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1397954"/>
              <a:ext cx="7218994" cy="2587363"/>
              <a:chOff x="0" y="0"/>
              <a:chExt cx="4794542" cy="17184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794542" cy="1718414"/>
              </a:xfrm>
              <a:custGeom>
                <a:avLst/>
                <a:gdLst/>
                <a:ahLst/>
                <a:cxnLst/>
                <a:rect l="l" t="t" r="r" b="b"/>
                <a:pathLst>
                  <a:path w="4794542" h="1718414">
                    <a:moveTo>
                      <a:pt x="0" y="0"/>
                    </a:moveTo>
                    <a:lnTo>
                      <a:pt x="4794542" y="0"/>
                    </a:lnTo>
                    <a:lnTo>
                      <a:pt x="4794542" y="1718414"/>
                    </a:lnTo>
                    <a:lnTo>
                      <a:pt x="0" y="17184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4794542" cy="17469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3236" y="1735459"/>
              <a:ext cx="5764796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7218994" cy="1434727"/>
              <a:chOff x="0" y="0"/>
              <a:chExt cx="776370" cy="15429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76370" cy="154298"/>
              </a:xfrm>
              <a:custGeom>
                <a:avLst/>
                <a:gdLst/>
                <a:ahLst/>
                <a:cxnLst/>
                <a:rect l="l" t="t" r="r" b="b"/>
                <a:pathLst>
                  <a:path w="776370" h="154298">
                    <a:moveTo>
                      <a:pt x="0" y="0"/>
                    </a:moveTo>
                    <a:lnTo>
                      <a:pt x="776370" y="0"/>
                    </a:lnTo>
                    <a:lnTo>
                      <a:pt x="776370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76370" cy="1923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27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63236" y="289162"/>
              <a:ext cx="5856778" cy="808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940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Avec 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73182" y="1028700"/>
            <a:ext cx="7940055" cy="5453468"/>
            <a:chOff x="0" y="0"/>
            <a:chExt cx="7031252" cy="48292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31252" cy="4829275"/>
            </a:xfrm>
            <a:custGeom>
              <a:avLst/>
              <a:gdLst/>
              <a:ahLst/>
              <a:cxnLst/>
              <a:rect l="l" t="t" r="r" b="b"/>
              <a:pathLst>
                <a:path w="7031252" h="4829275">
                  <a:moveTo>
                    <a:pt x="0" y="0"/>
                  </a:moveTo>
                  <a:lnTo>
                    <a:pt x="7031252" y="0"/>
                  </a:lnTo>
                  <a:lnTo>
                    <a:pt x="7031252" y="4829275"/>
                  </a:lnTo>
                  <a:lnTo>
                    <a:pt x="0" y="4829275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031252" cy="485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01508" y="7433489"/>
            <a:ext cx="1111260" cy="1618777"/>
            <a:chOff x="0" y="0"/>
            <a:chExt cx="1481680" cy="2158369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4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08673" y="0"/>
              <a:ext cx="1264334" cy="1915657"/>
            </a:xfrm>
            <a:custGeom>
              <a:avLst/>
              <a:gdLst/>
              <a:ahLst/>
              <a:cxnLst/>
              <a:rect l="l" t="t" r="r" b="b"/>
              <a:pathLst>
                <a:path w="1264334" h="1915657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633757" y="1462974"/>
            <a:ext cx="836256" cy="726600"/>
            <a:chOff x="0" y="0"/>
            <a:chExt cx="220248" cy="1913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248" cy="191368"/>
            </a:xfrm>
            <a:custGeom>
              <a:avLst/>
              <a:gdLst/>
              <a:ahLst/>
              <a:cxnLst/>
              <a:rect l="l" t="t" r="r" b="b"/>
              <a:pathLst>
                <a:path w="220248" h="191368">
                  <a:moveTo>
                    <a:pt x="95684" y="0"/>
                  </a:moveTo>
                  <a:lnTo>
                    <a:pt x="124564" y="0"/>
                  </a:lnTo>
                  <a:cubicBezTo>
                    <a:pt x="149941" y="0"/>
                    <a:pt x="174279" y="10081"/>
                    <a:pt x="192223" y="28025"/>
                  </a:cubicBezTo>
                  <a:cubicBezTo>
                    <a:pt x="210167" y="45969"/>
                    <a:pt x="220248" y="70307"/>
                    <a:pt x="220248" y="95684"/>
                  </a:cubicBezTo>
                  <a:lnTo>
                    <a:pt x="220248" y="95684"/>
                  </a:lnTo>
                  <a:cubicBezTo>
                    <a:pt x="220248" y="121061"/>
                    <a:pt x="210167" y="145399"/>
                    <a:pt x="192223" y="163343"/>
                  </a:cubicBezTo>
                  <a:cubicBezTo>
                    <a:pt x="174279" y="181287"/>
                    <a:pt x="149941" y="191368"/>
                    <a:pt x="124564" y="191368"/>
                  </a:cubicBezTo>
                  <a:lnTo>
                    <a:pt x="95684" y="191368"/>
                  </a:lnTo>
                  <a:cubicBezTo>
                    <a:pt x="70307" y="191368"/>
                    <a:pt x="45969" y="181287"/>
                    <a:pt x="28025" y="163343"/>
                  </a:cubicBezTo>
                  <a:cubicBezTo>
                    <a:pt x="10081" y="145399"/>
                    <a:pt x="0" y="121061"/>
                    <a:pt x="0" y="95684"/>
                  </a:cubicBezTo>
                  <a:lnTo>
                    <a:pt x="0" y="95684"/>
                  </a:lnTo>
                  <a:cubicBezTo>
                    <a:pt x="0" y="70307"/>
                    <a:pt x="10081" y="45969"/>
                    <a:pt x="28025" y="28025"/>
                  </a:cubicBezTo>
                  <a:cubicBezTo>
                    <a:pt x="45969" y="10081"/>
                    <a:pt x="70307" y="0"/>
                    <a:pt x="95684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220248" cy="219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737661" y="1462974"/>
            <a:ext cx="439289" cy="726600"/>
            <a:chOff x="0" y="0"/>
            <a:chExt cx="115698" cy="1913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5698" cy="191368"/>
            </a:xfrm>
            <a:custGeom>
              <a:avLst/>
              <a:gdLst/>
              <a:ahLst/>
              <a:cxnLst/>
              <a:rect l="l" t="t" r="r" b="b"/>
              <a:pathLst>
                <a:path w="115698" h="191368">
                  <a:moveTo>
                    <a:pt x="57849" y="0"/>
                  </a:moveTo>
                  <a:lnTo>
                    <a:pt x="57849" y="0"/>
                  </a:lnTo>
                  <a:cubicBezTo>
                    <a:pt x="89798" y="0"/>
                    <a:pt x="115698" y="25900"/>
                    <a:pt x="115698" y="57849"/>
                  </a:cubicBezTo>
                  <a:lnTo>
                    <a:pt x="115698" y="133519"/>
                  </a:lnTo>
                  <a:cubicBezTo>
                    <a:pt x="115698" y="165468"/>
                    <a:pt x="89798" y="191368"/>
                    <a:pt x="57849" y="191368"/>
                  </a:cubicBezTo>
                  <a:lnTo>
                    <a:pt x="57849" y="191368"/>
                  </a:lnTo>
                  <a:cubicBezTo>
                    <a:pt x="25900" y="191368"/>
                    <a:pt x="0" y="165468"/>
                    <a:pt x="0" y="133519"/>
                  </a:cubicBezTo>
                  <a:lnTo>
                    <a:pt x="0" y="57849"/>
                  </a:lnTo>
                  <a:cubicBezTo>
                    <a:pt x="0" y="25900"/>
                    <a:pt x="25900" y="0"/>
                    <a:pt x="57849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15698" cy="219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33" y="3372026"/>
            <a:ext cx="5868012" cy="1606718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559" y="6303335"/>
            <a:ext cx="2145995" cy="1063586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7891211" y="1608787"/>
            <a:ext cx="840151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coefficient du terme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898" y="1671440"/>
            <a:ext cx="631024" cy="30966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1004" y="1524389"/>
            <a:ext cx="497396" cy="445584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9633757" y="2419350"/>
            <a:ext cx="836256" cy="801009"/>
            <a:chOff x="0" y="0"/>
            <a:chExt cx="220248" cy="21096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20248" cy="210965"/>
            </a:xfrm>
            <a:custGeom>
              <a:avLst/>
              <a:gdLst/>
              <a:ahLst/>
              <a:cxnLst/>
              <a:rect l="l" t="t" r="r" b="b"/>
              <a:pathLst>
                <a:path w="220248" h="210965">
                  <a:moveTo>
                    <a:pt x="105483" y="0"/>
                  </a:moveTo>
                  <a:lnTo>
                    <a:pt x="114766" y="0"/>
                  </a:lnTo>
                  <a:cubicBezTo>
                    <a:pt x="142741" y="0"/>
                    <a:pt x="169571" y="11113"/>
                    <a:pt x="189353" y="30895"/>
                  </a:cubicBezTo>
                  <a:cubicBezTo>
                    <a:pt x="209135" y="50677"/>
                    <a:pt x="220248" y="77507"/>
                    <a:pt x="220248" y="105483"/>
                  </a:cubicBezTo>
                  <a:lnTo>
                    <a:pt x="220248" y="105483"/>
                  </a:lnTo>
                  <a:cubicBezTo>
                    <a:pt x="220248" y="163739"/>
                    <a:pt x="173022" y="210965"/>
                    <a:pt x="114766" y="210965"/>
                  </a:cubicBezTo>
                  <a:lnTo>
                    <a:pt x="105483" y="210965"/>
                  </a:lnTo>
                  <a:cubicBezTo>
                    <a:pt x="77507" y="210965"/>
                    <a:pt x="50677" y="199852"/>
                    <a:pt x="30895" y="180070"/>
                  </a:cubicBezTo>
                  <a:cubicBezTo>
                    <a:pt x="11113" y="160288"/>
                    <a:pt x="0" y="133458"/>
                    <a:pt x="0" y="105483"/>
                  </a:cubicBezTo>
                  <a:lnTo>
                    <a:pt x="0" y="105483"/>
                  </a:lnTo>
                  <a:cubicBezTo>
                    <a:pt x="0" y="77507"/>
                    <a:pt x="11113" y="50677"/>
                    <a:pt x="30895" y="30895"/>
                  </a:cubicBezTo>
                  <a:cubicBezTo>
                    <a:pt x="50677" y="11113"/>
                    <a:pt x="77507" y="0"/>
                    <a:pt x="105483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220248" cy="23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458" y="2617026"/>
            <a:ext cx="609685" cy="450913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8121939" y="2639258"/>
            <a:ext cx="794005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coefficient du terme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1000125"/>
            <a:ext cx="5846023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Définition du trinôme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866018" y="7351354"/>
            <a:ext cx="3047219" cy="1804095"/>
            <a:chOff x="0" y="0"/>
            <a:chExt cx="4062959" cy="2405460"/>
          </a:xfrm>
        </p:grpSpPr>
        <p:sp>
          <p:nvSpPr>
            <p:cNvPr id="40" name="TextBox 40"/>
            <p:cNvSpPr txBox="1"/>
            <p:nvPr/>
          </p:nvSpPr>
          <p:spPr>
            <a:xfrm>
              <a:off x="0" y="545792"/>
              <a:ext cx="4062959" cy="185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Toute résolution du second degré commence toujours par le calcul de 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4062959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Souviens-toi :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28700" y="2775807"/>
            <a:ext cx="5321744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appelle trinôme du second degré toute expression :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3737661" y="2456241"/>
            <a:ext cx="439289" cy="801009"/>
            <a:chOff x="0" y="0"/>
            <a:chExt cx="115698" cy="21096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5698" cy="210965"/>
            </a:xfrm>
            <a:custGeom>
              <a:avLst/>
              <a:gdLst/>
              <a:ahLst/>
              <a:cxnLst/>
              <a:rect l="l" t="t" r="r" b="b"/>
              <a:pathLst>
                <a:path w="115698" h="210965">
                  <a:moveTo>
                    <a:pt x="57849" y="0"/>
                  </a:moveTo>
                  <a:lnTo>
                    <a:pt x="57849" y="0"/>
                  </a:lnTo>
                  <a:cubicBezTo>
                    <a:pt x="89798" y="0"/>
                    <a:pt x="115698" y="25900"/>
                    <a:pt x="115698" y="57849"/>
                  </a:cubicBezTo>
                  <a:lnTo>
                    <a:pt x="115698" y="153117"/>
                  </a:lnTo>
                  <a:cubicBezTo>
                    <a:pt x="115698" y="185066"/>
                    <a:pt x="89798" y="210965"/>
                    <a:pt x="57849" y="210965"/>
                  </a:cubicBezTo>
                  <a:lnTo>
                    <a:pt x="57849" y="210965"/>
                  </a:lnTo>
                  <a:cubicBezTo>
                    <a:pt x="25900" y="210965"/>
                    <a:pt x="0" y="185066"/>
                    <a:pt x="0" y="153117"/>
                  </a:cubicBezTo>
                  <a:lnTo>
                    <a:pt x="0" y="57849"/>
                  </a:lnTo>
                  <a:cubicBezTo>
                    <a:pt x="0" y="25900"/>
                    <a:pt x="25900" y="0"/>
                    <a:pt x="57849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15698" cy="23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90583" y="2684007"/>
            <a:ext cx="333446" cy="271696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9652173" y="3620409"/>
            <a:ext cx="836256" cy="726600"/>
            <a:chOff x="0" y="0"/>
            <a:chExt cx="220248" cy="19136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20248" cy="191368"/>
            </a:xfrm>
            <a:custGeom>
              <a:avLst/>
              <a:gdLst/>
              <a:ahLst/>
              <a:cxnLst/>
              <a:rect l="l" t="t" r="r" b="b"/>
              <a:pathLst>
                <a:path w="220248" h="191368">
                  <a:moveTo>
                    <a:pt x="95684" y="0"/>
                  </a:moveTo>
                  <a:lnTo>
                    <a:pt x="124564" y="0"/>
                  </a:lnTo>
                  <a:cubicBezTo>
                    <a:pt x="149941" y="0"/>
                    <a:pt x="174279" y="10081"/>
                    <a:pt x="192223" y="28025"/>
                  </a:cubicBezTo>
                  <a:cubicBezTo>
                    <a:pt x="210167" y="45969"/>
                    <a:pt x="220248" y="70307"/>
                    <a:pt x="220248" y="95684"/>
                  </a:cubicBezTo>
                  <a:lnTo>
                    <a:pt x="220248" y="95684"/>
                  </a:lnTo>
                  <a:cubicBezTo>
                    <a:pt x="220248" y="121061"/>
                    <a:pt x="210167" y="145399"/>
                    <a:pt x="192223" y="163343"/>
                  </a:cubicBezTo>
                  <a:cubicBezTo>
                    <a:pt x="174279" y="181287"/>
                    <a:pt x="149941" y="191368"/>
                    <a:pt x="124564" y="191368"/>
                  </a:cubicBezTo>
                  <a:lnTo>
                    <a:pt x="95684" y="191368"/>
                  </a:lnTo>
                  <a:cubicBezTo>
                    <a:pt x="70307" y="191368"/>
                    <a:pt x="45969" y="181287"/>
                    <a:pt x="28025" y="163343"/>
                  </a:cubicBezTo>
                  <a:cubicBezTo>
                    <a:pt x="10081" y="145399"/>
                    <a:pt x="0" y="121061"/>
                    <a:pt x="0" y="95684"/>
                  </a:cubicBezTo>
                  <a:lnTo>
                    <a:pt x="0" y="95684"/>
                  </a:lnTo>
                  <a:cubicBezTo>
                    <a:pt x="0" y="70307"/>
                    <a:pt x="10081" y="45969"/>
                    <a:pt x="28025" y="28025"/>
                  </a:cubicBezTo>
                  <a:cubicBezTo>
                    <a:pt x="45969" y="10081"/>
                    <a:pt x="70307" y="0"/>
                    <a:pt x="95684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220248" cy="219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5207" y="3702950"/>
            <a:ext cx="708140" cy="376199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10567198" y="3634650"/>
            <a:ext cx="2376011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terme constant</a:t>
            </a: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9866" y="4918387"/>
            <a:ext cx="568708" cy="450227"/>
          </a:xfrm>
          <a:prstGeom prst="rect">
            <a:avLst/>
          </a:prstGeom>
        </p:spPr>
      </p:pic>
      <p:sp>
        <p:nvSpPr>
          <p:cNvPr id="53" name="TextBox 53"/>
          <p:cNvSpPr txBox="1"/>
          <p:nvPr/>
        </p:nvSpPr>
        <p:spPr>
          <a:xfrm>
            <a:off x="11663620" y="4744974"/>
            <a:ext cx="4339274" cy="8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l’expression n’est plus du second degré.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5141" y="4908778"/>
            <a:ext cx="1190344" cy="511639"/>
          </a:xfrm>
          <a:prstGeom prst="rect">
            <a:avLst/>
          </a:prstGeom>
        </p:spPr>
      </p:pic>
      <p:grpSp>
        <p:nvGrpSpPr>
          <p:cNvPr id="55" name="Group 55"/>
          <p:cNvGrpSpPr/>
          <p:nvPr/>
        </p:nvGrpSpPr>
        <p:grpSpPr>
          <a:xfrm>
            <a:off x="10324336" y="4785160"/>
            <a:ext cx="1430868" cy="801009"/>
            <a:chOff x="0" y="0"/>
            <a:chExt cx="376854" cy="21096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76854" cy="210965"/>
            </a:xfrm>
            <a:custGeom>
              <a:avLst/>
              <a:gdLst/>
              <a:ahLst/>
              <a:cxnLst/>
              <a:rect l="l" t="t" r="r" b="b"/>
              <a:pathLst>
                <a:path w="376854" h="210965">
                  <a:moveTo>
                    <a:pt x="75749" y="0"/>
                  </a:moveTo>
                  <a:lnTo>
                    <a:pt x="301105" y="0"/>
                  </a:lnTo>
                  <a:cubicBezTo>
                    <a:pt x="342940" y="0"/>
                    <a:pt x="376854" y="33914"/>
                    <a:pt x="376854" y="75749"/>
                  </a:cubicBezTo>
                  <a:lnTo>
                    <a:pt x="376854" y="135216"/>
                  </a:lnTo>
                  <a:cubicBezTo>
                    <a:pt x="376854" y="177051"/>
                    <a:pt x="342940" y="210965"/>
                    <a:pt x="301105" y="210965"/>
                  </a:cubicBezTo>
                  <a:lnTo>
                    <a:pt x="75749" y="210965"/>
                  </a:lnTo>
                  <a:cubicBezTo>
                    <a:pt x="55659" y="210965"/>
                    <a:pt x="36392" y="202985"/>
                    <a:pt x="22186" y="188779"/>
                  </a:cubicBezTo>
                  <a:cubicBezTo>
                    <a:pt x="7981" y="174573"/>
                    <a:pt x="0" y="155306"/>
                    <a:pt x="0" y="135216"/>
                  </a:cubicBezTo>
                  <a:lnTo>
                    <a:pt x="0" y="75749"/>
                  </a:lnTo>
                  <a:cubicBezTo>
                    <a:pt x="0" y="33914"/>
                    <a:pt x="33914" y="0"/>
                    <a:pt x="75749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376854" cy="23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73118" y="4839726"/>
            <a:ext cx="1516913" cy="652007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913237" y="8458007"/>
            <a:ext cx="351797" cy="329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68565" y="2618847"/>
            <a:ext cx="5960398" cy="1525474"/>
            <a:chOff x="0" y="0"/>
            <a:chExt cx="555975" cy="1422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5975" cy="142293"/>
            </a:xfrm>
            <a:custGeom>
              <a:avLst/>
              <a:gdLst/>
              <a:ahLst/>
              <a:cxnLst/>
              <a:rect l="l" t="t" r="r" b="b"/>
              <a:pathLst>
                <a:path w="555975" h="142293">
                  <a:moveTo>
                    <a:pt x="0" y="0"/>
                  </a:moveTo>
                  <a:lnTo>
                    <a:pt x="555975" y="0"/>
                  </a:lnTo>
                  <a:lnTo>
                    <a:pt x="555975" y="142293"/>
                  </a:lnTo>
                  <a:lnTo>
                    <a:pt x="0" y="142293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55975" cy="170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73715" y="4535506"/>
            <a:ext cx="2915754" cy="291575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7000" y="98425"/>
              <a:ext cx="558800" cy="587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3802991" y="4971027"/>
            <a:ext cx="2611467" cy="4127318"/>
          </a:xfrm>
          <a:custGeom>
            <a:avLst/>
            <a:gdLst/>
            <a:ahLst/>
            <a:cxnLst/>
            <a:rect l="l" t="t" r="r" b="b"/>
            <a:pathLst>
              <a:path w="2611467" h="4127318">
                <a:moveTo>
                  <a:pt x="2611467" y="0"/>
                </a:moveTo>
                <a:lnTo>
                  <a:pt x="0" y="0"/>
                </a:lnTo>
                <a:lnTo>
                  <a:pt x="0" y="4127318"/>
                </a:lnTo>
                <a:lnTo>
                  <a:pt x="2611467" y="4127318"/>
                </a:lnTo>
                <a:lnTo>
                  <a:pt x="26114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028700" y="6404760"/>
            <a:ext cx="2774291" cy="2693585"/>
          </a:xfrm>
          <a:custGeom>
            <a:avLst/>
            <a:gdLst/>
            <a:ahLst/>
            <a:cxnLst/>
            <a:rect l="l" t="t" r="r" b="b"/>
            <a:pathLst>
              <a:path w="2774291" h="2693585">
                <a:moveTo>
                  <a:pt x="0" y="0"/>
                </a:moveTo>
                <a:lnTo>
                  <a:pt x="2774291" y="0"/>
                </a:lnTo>
                <a:lnTo>
                  <a:pt x="2774291" y="2693585"/>
                </a:lnTo>
                <a:lnTo>
                  <a:pt x="0" y="2693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1028700" y="1303290"/>
            <a:ext cx="7470057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Définition du discriminant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78090" y="1366382"/>
            <a:ext cx="622587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Le discriminant d’une équation du second degré</a:t>
            </a:r>
          </a:p>
        </p:txBody>
      </p:sp>
      <p:sp>
        <p:nvSpPr>
          <p:cNvPr id="12" name="Freeform 12"/>
          <p:cNvSpPr/>
          <p:nvPr/>
        </p:nvSpPr>
        <p:spPr>
          <a:xfrm>
            <a:off x="2751950" y="5527063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5" y="0"/>
                </a:lnTo>
                <a:lnTo>
                  <a:pt x="660855" y="641028"/>
                </a:lnTo>
                <a:lnTo>
                  <a:pt x="0" y="6410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9794" y="2605698"/>
            <a:ext cx="4876991" cy="155177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917348" y="4815790"/>
            <a:ext cx="6986613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est le nombre réel défini par :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668565" y="6046696"/>
            <a:ext cx="5960398" cy="1525474"/>
            <a:chOff x="0" y="0"/>
            <a:chExt cx="555975" cy="1422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5975" cy="142293"/>
            </a:xfrm>
            <a:custGeom>
              <a:avLst/>
              <a:gdLst/>
              <a:ahLst/>
              <a:cxnLst/>
              <a:rect l="l" t="t" r="r" b="b"/>
              <a:pathLst>
                <a:path w="555975" h="142293">
                  <a:moveTo>
                    <a:pt x="0" y="0"/>
                  </a:moveTo>
                  <a:lnTo>
                    <a:pt x="555975" y="0"/>
                  </a:lnTo>
                  <a:lnTo>
                    <a:pt x="555975" y="142293"/>
                  </a:lnTo>
                  <a:lnTo>
                    <a:pt x="0" y="142293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55975" cy="1708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5699" y="5924900"/>
            <a:ext cx="5690652" cy="1764306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108344" y="8067469"/>
            <a:ext cx="11080840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sz="32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Le discriminant permet de déterminer la nature des solutions.</a:t>
            </a:r>
          </a:p>
          <a:p>
            <a:pPr algn="ctr">
              <a:lnSpc>
                <a:spcPts val="4160"/>
              </a:lnSpc>
              <a:spcBef>
                <a:spcPct val="0"/>
              </a:spcBef>
            </a:pPr>
            <a:endParaRPr lang="en-US" sz="320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98419" y="-159487"/>
            <a:ext cx="10864830" cy="10691709"/>
            <a:chOff x="0" y="0"/>
            <a:chExt cx="9621263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1263" cy="9467958"/>
            </a:xfrm>
            <a:custGeom>
              <a:avLst/>
              <a:gdLst/>
              <a:ahLst/>
              <a:cxnLst/>
              <a:rect l="l" t="t" r="r" b="b"/>
              <a:pathLst>
                <a:path w="9621263" h="9467958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00680" y="1028700"/>
            <a:ext cx="10085956" cy="5733028"/>
            <a:chOff x="0" y="0"/>
            <a:chExt cx="8931538" cy="5076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31538" cy="5076837"/>
            </a:xfrm>
            <a:custGeom>
              <a:avLst/>
              <a:gdLst/>
              <a:ahLst/>
              <a:cxnLst/>
              <a:rect l="l" t="t" r="r" b="b"/>
              <a:pathLst>
                <a:path w="8931538" h="5076837">
                  <a:moveTo>
                    <a:pt x="0" y="0"/>
                  </a:moveTo>
                  <a:lnTo>
                    <a:pt x="8931538" y="0"/>
                  </a:lnTo>
                  <a:lnTo>
                    <a:pt x="8931538" y="5076837"/>
                  </a:lnTo>
                  <a:lnTo>
                    <a:pt x="0" y="5076837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931538" cy="5105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7708" y="2946115"/>
            <a:ext cx="6940712" cy="3000617"/>
            <a:chOff x="0" y="0"/>
            <a:chExt cx="9254282" cy="400082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1397954"/>
              <a:ext cx="9254282" cy="2602869"/>
              <a:chOff x="0" y="0"/>
              <a:chExt cx="6146292" cy="17287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146292" cy="1728712"/>
              </a:xfrm>
              <a:custGeom>
                <a:avLst/>
                <a:gdLst/>
                <a:ahLst/>
                <a:cxnLst/>
                <a:rect l="l" t="t" r="r" b="b"/>
                <a:pathLst>
                  <a:path w="6146292" h="1728712">
                    <a:moveTo>
                      <a:pt x="0" y="0"/>
                    </a:moveTo>
                    <a:lnTo>
                      <a:pt x="6146292" y="0"/>
                    </a:lnTo>
                    <a:lnTo>
                      <a:pt x="6146292" y="1728712"/>
                    </a:lnTo>
                    <a:lnTo>
                      <a:pt x="0" y="1728712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146292" cy="1757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63236" y="1735459"/>
              <a:ext cx="5764796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9254282" cy="1434727"/>
              <a:chOff x="0" y="0"/>
              <a:chExt cx="995256" cy="15429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95256" cy="154298"/>
              </a:xfrm>
              <a:custGeom>
                <a:avLst/>
                <a:gdLst/>
                <a:ahLst/>
                <a:cxnLst/>
                <a:rect l="l" t="t" r="r" b="b"/>
                <a:pathLst>
                  <a:path w="995256" h="154298">
                    <a:moveTo>
                      <a:pt x="0" y="0"/>
                    </a:moveTo>
                    <a:lnTo>
                      <a:pt x="995256" y="0"/>
                    </a:lnTo>
                    <a:lnTo>
                      <a:pt x="995256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995256" cy="1923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27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63236" y="289162"/>
              <a:ext cx="8039550" cy="808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940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considèrons l’équation :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00680" y="6550516"/>
            <a:ext cx="3792802" cy="2316907"/>
            <a:chOff x="0" y="0"/>
            <a:chExt cx="5057069" cy="308921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057069" cy="3089210"/>
              <a:chOff x="0" y="0"/>
              <a:chExt cx="2198139" cy="134277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98139" cy="1342776"/>
              </a:xfrm>
              <a:custGeom>
                <a:avLst/>
                <a:gdLst/>
                <a:ahLst/>
                <a:cxnLst/>
                <a:rect l="l" t="t" r="r" b="b"/>
                <a:pathLst>
                  <a:path w="2198139" h="1342776">
                    <a:moveTo>
                      <a:pt x="0" y="0"/>
                    </a:moveTo>
                    <a:lnTo>
                      <a:pt x="2198139" y="0"/>
                    </a:lnTo>
                    <a:lnTo>
                      <a:pt x="2198139" y="1342776"/>
                    </a:lnTo>
                    <a:lnTo>
                      <a:pt x="0" y="1342776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198139" cy="13618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085681" y="881314"/>
              <a:ext cx="3971388" cy="103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8"/>
                </a:lnSpc>
              </a:pPr>
              <a:r>
                <a:rPr lang="en-US" sz="2406" b="1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Aucune solution dans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829560"/>
              <a:ext cx="5057069" cy="916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75"/>
                </a:lnSpc>
              </a:pPr>
              <a:endParaRPr/>
            </a:p>
          </p:txBody>
        </p:sp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51" y="3913716"/>
            <a:ext cx="7459790" cy="185143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982" y="4341392"/>
            <a:ext cx="1782455" cy="711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1642" y="1632563"/>
            <a:ext cx="2694905" cy="83551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4642" y="4294922"/>
            <a:ext cx="1818030" cy="761036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8" y="4282296"/>
            <a:ext cx="1969532" cy="786286"/>
          </a:xfrm>
          <a:prstGeom prst="rect">
            <a:avLst/>
          </a:prstGeom>
        </p:spPr>
      </p:pic>
      <p:sp>
        <p:nvSpPr>
          <p:cNvPr id="28" name="Freeform 28"/>
          <p:cNvSpPr/>
          <p:nvPr/>
        </p:nvSpPr>
        <p:spPr>
          <a:xfrm>
            <a:off x="9144000" y="4904454"/>
            <a:ext cx="1265670" cy="1646061"/>
          </a:xfrm>
          <a:custGeom>
            <a:avLst/>
            <a:gdLst/>
            <a:ahLst/>
            <a:cxnLst/>
            <a:rect l="l" t="t" r="r" b="b"/>
            <a:pathLst>
              <a:path w="1265670" h="1646061">
                <a:moveTo>
                  <a:pt x="0" y="0"/>
                </a:moveTo>
                <a:lnTo>
                  <a:pt x="1265670" y="0"/>
                </a:lnTo>
                <a:lnTo>
                  <a:pt x="1265670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311" r="-134065" b="-200932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552453" y="1628569"/>
            <a:ext cx="8582409" cy="3557799"/>
          </a:xfrm>
          <a:custGeom>
            <a:avLst/>
            <a:gdLst/>
            <a:ahLst/>
            <a:cxnLst/>
            <a:rect l="l" t="t" r="r" b="b"/>
            <a:pathLst>
              <a:path w="8582409" h="3557799">
                <a:moveTo>
                  <a:pt x="0" y="0"/>
                </a:moveTo>
                <a:lnTo>
                  <a:pt x="8582409" y="0"/>
                </a:lnTo>
                <a:lnTo>
                  <a:pt x="8582409" y="3557798"/>
                </a:lnTo>
                <a:lnTo>
                  <a:pt x="0" y="3557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1864" y="7223998"/>
            <a:ext cx="902128" cy="49207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8772" y="7612589"/>
            <a:ext cx="339613" cy="316029"/>
          </a:xfrm>
          <a:prstGeom prst="rect">
            <a:avLst/>
          </a:prstGeom>
        </p:spPr>
      </p:pic>
      <p:sp>
        <p:nvSpPr>
          <p:cNvPr id="32" name="Freeform 32"/>
          <p:cNvSpPr/>
          <p:nvPr/>
        </p:nvSpPr>
        <p:spPr>
          <a:xfrm>
            <a:off x="10372324" y="4904454"/>
            <a:ext cx="4953540" cy="1646061"/>
          </a:xfrm>
          <a:custGeom>
            <a:avLst/>
            <a:gdLst/>
            <a:ahLst/>
            <a:cxnLst/>
            <a:rect l="l" t="t" r="r" b="b"/>
            <a:pathLst>
              <a:path w="4953540" h="1646061">
                <a:moveTo>
                  <a:pt x="0" y="0"/>
                </a:moveTo>
                <a:lnTo>
                  <a:pt x="4953541" y="0"/>
                </a:lnTo>
                <a:lnTo>
                  <a:pt x="4953541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00932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1593481" y="6550516"/>
            <a:ext cx="3217612" cy="2316907"/>
            <a:chOff x="0" y="0"/>
            <a:chExt cx="4290149" cy="308921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290149" cy="3089210"/>
              <a:chOff x="0" y="0"/>
              <a:chExt cx="1747488" cy="125831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47488" cy="1258314"/>
              </a:xfrm>
              <a:custGeom>
                <a:avLst/>
                <a:gdLst/>
                <a:ahLst/>
                <a:cxnLst/>
                <a:rect l="l" t="t" r="r" b="b"/>
                <a:pathLst>
                  <a:path w="1747488" h="1258314">
                    <a:moveTo>
                      <a:pt x="0" y="0"/>
                    </a:moveTo>
                    <a:lnTo>
                      <a:pt x="1747488" y="0"/>
                    </a:lnTo>
                    <a:lnTo>
                      <a:pt x="1747488" y="1258314"/>
                    </a:lnTo>
                    <a:lnTo>
                      <a:pt x="0" y="12583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1747488" cy="1277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21034" y="905291"/>
              <a:ext cx="3369115" cy="859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299"/>
                </a:lnSpc>
              </a:pPr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268368"/>
              <a:ext cx="4290149" cy="97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3"/>
                </a:lnSpc>
              </a:pPr>
              <a:endParaRPr/>
            </a:p>
          </p:txBody>
        </p:sp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29992" y="6725770"/>
            <a:ext cx="1944590" cy="1146809"/>
          </a:xfrm>
          <a:prstGeom prst="rect">
            <a:avLst/>
          </a:prstGeom>
        </p:spPr>
      </p:pic>
      <p:sp>
        <p:nvSpPr>
          <p:cNvPr id="40" name="Freeform 40"/>
          <p:cNvSpPr/>
          <p:nvPr/>
        </p:nvSpPr>
        <p:spPr>
          <a:xfrm>
            <a:off x="13524439" y="4904454"/>
            <a:ext cx="4953540" cy="1646061"/>
          </a:xfrm>
          <a:custGeom>
            <a:avLst/>
            <a:gdLst/>
            <a:ahLst/>
            <a:cxnLst/>
            <a:rect l="l" t="t" r="r" b="b"/>
            <a:pathLst>
              <a:path w="4953540" h="1646061">
                <a:moveTo>
                  <a:pt x="0" y="0"/>
                </a:moveTo>
                <a:lnTo>
                  <a:pt x="4953540" y="0"/>
                </a:lnTo>
                <a:lnTo>
                  <a:pt x="4953540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00932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028700" y="1000125"/>
            <a:ext cx="5403569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Étude du discriminant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4811093" y="6550516"/>
            <a:ext cx="3217612" cy="2316907"/>
            <a:chOff x="0" y="0"/>
            <a:chExt cx="4290149" cy="3089210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4290149" cy="3089210"/>
              <a:chOff x="0" y="0"/>
              <a:chExt cx="1747488" cy="125831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747488" cy="1258314"/>
              </a:xfrm>
              <a:custGeom>
                <a:avLst/>
                <a:gdLst/>
                <a:ahLst/>
                <a:cxnLst/>
                <a:rect l="l" t="t" r="r" b="b"/>
                <a:pathLst>
                  <a:path w="1747488" h="1258314">
                    <a:moveTo>
                      <a:pt x="0" y="0"/>
                    </a:moveTo>
                    <a:lnTo>
                      <a:pt x="1747488" y="0"/>
                    </a:lnTo>
                    <a:lnTo>
                      <a:pt x="1747488" y="1258314"/>
                    </a:lnTo>
                    <a:lnTo>
                      <a:pt x="0" y="12583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0" y="-28575"/>
                <a:ext cx="1747488" cy="1286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921034" y="905291"/>
              <a:ext cx="3369115" cy="859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299"/>
                </a:lnSpc>
              </a:pPr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1268368"/>
              <a:ext cx="4290149" cy="97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3"/>
                </a:lnSpc>
              </a:pPr>
              <a:endParaRPr/>
            </a:p>
          </p:txBody>
        </p:sp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976954" y="6598847"/>
            <a:ext cx="2885888" cy="2220244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840912" y="6442032"/>
            <a:ext cx="5779144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 discriminant ne donne pas seulement les solutions, il permet d’anticiper la nature des racines avant même de les calculer.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27660" y="-3168323"/>
            <a:ext cx="5445555" cy="6336645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11125"/>
              <a:ext cx="6985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120038" y="-1093713"/>
            <a:ext cx="4849741" cy="4832106"/>
          </a:xfrm>
          <a:custGeom>
            <a:avLst/>
            <a:gdLst/>
            <a:ahLst/>
            <a:cxnLst/>
            <a:rect l="l" t="t" r="r" b="b"/>
            <a:pathLst>
              <a:path w="4849741" h="4832106">
                <a:moveTo>
                  <a:pt x="0" y="0"/>
                </a:moveTo>
                <a:lnTo>
                  <a:pt x="4849741" y="0"/>
                </a:lnTo>
                <a:lnTo>
                  <a:pt x="4849741" y="4832106"/>
                </a:lnTo>
                <a:lnTo>
                  <a:pt x="0" y="4832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 rot="-799724">
            <a:off x="15743595" y="1108703"/>
            <a:ext cx="640301" cy="6403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6458DD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0270443" y="-1093713"/>
            <a:ext cx="4274465" cy="4274465"/>
          </a:xfrm>
          <a:custGeom>
            <a:avLst/>
            <a:gdLst/>
            <a:ahLst/>
            <a:cxnLst/>
            <a:rect l="l" t="t" r="r" b="b"/>
            <a:pathLst>
              <a:path w="4274465" h="4274465">
                <a:moveTo>
                  <a:pt x="0" y="4274465"/>
                </a:moveTo>
                <a:lnTo>
                  <a:pt x="4274465" y="4274465"/>
                </a:lnTo>
                <a:lnTo>
                  <a:pt x="4274465" y="0"/>
                </a:lnTo>
                <a:lnTo>
                  <a:pt x="0" y="0"/>
                </a:lnTo>
                <a:lnTo>
                  <a:pt x="0" y="42744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662753" y="364391"/>
            <a:ext cx="7519697" cy="315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19"/>
              </a:lnSpc>
              <a:spcBef>
                <a:spcPct val="0"/>
              </a:spcBef>
            </a:pPr>
            <a:r>
              <a:rPr lang="en-US" sz="684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Équation du second degré</a:t>
            </a:r>
          </a:p>
          <a:p>
            <a:pPr marL="0" lvl="0" indent="0" algn="l">
              <a:lnSpc>
                <a:spcPts val="8219"/>
              </a:lnSpc>
              <a:spcBef>
                <a:spcPct val="0"/>
              </a:spcBef>
            </a:pPr>
            <a:endParaRPr lang="en-US" sz="6849" b="1">
              <a:solidFill>
                <a:srgbClr val="242424"/>
              </a:solidFill>
              <a:latin typeface="Ubuntu Bold"/>
              <a:ea typeface="Ubuntu Bold"/>
              <a:cs typeface="Ubuntu Bold"/>
              <a:sym typeface="Ubuntu Bold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9609589" y="402491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8576081" y="3738393"/>
            <a:ext cx="9300729" cy="5236849"/>
            <a:chOff x="0" y="0"/>
            <a:chExt cx="10924304" cy="61510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24305" cy="6151016"/>
            </a:xfrm>
            <a:custGeom>
              <a:avLst/>
              <a:gdLst/>
              <a:ahLst/>
              <a:cxnLst/>
              <a:rect l="l" t="t" r="r" b="b"/>
              <a:pathLst>
                <a:path w="10924305" h="6151016">
                  <a:moveTo>
                    <a:pt x="0" y="0"/>
                  </a:moveTo>
                  <a:lnTo>
                    <a:pt x="10924305" y="0"/>
                  </a:lnTo>
                  <a:lnTo>
                    <a:pt x="10924305" y="6151016"/>
                  </a:lnTo>
                  <a:lnTo>
                    <a:pt x="0" y="6151016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0924304" cy="6179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112654" y="1322340"/>
            <a:ext cx="1111260" cy="1618777"/>
            <a:chOff x="0" y="0"/>
            <a:chExt cx="1481680" cy="215836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4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08673" y="0"/>
              <a:ext cx="1264334" cy="1915657"/>
            </a:xfrm>
            <a:custGeom>
              <a:avLst/>
              <a:gdLst/>
              <a:ahLst/>
              <a:cxnLst/>
              <a:rect l="l" t="t" r="r" b="b"/>
              <a:pathLst>
                <a:path w="1264334" h="1915657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Freeform 20"/>
          <p:cNvSpPr/>
          <p:nvPr/>
        </p:nvSpPr>
        <p:spPr>
          <a:xfrm>
            <a:off x="16592624" y="2582956"/>
            <a:ext cx="377155" cy="597796"/>
          </a:xfrm>
          <a:custGeom>
            <a:avLst/>
            <a:gdLst/>
            <a:ahLst/>
            <a:cxnLst/>
            <a:rect l="l" t="t" r="r" b="b"/>
            <a:pathLst>
              <a:path w="377155" h="597796">
                <a:moveTo>
                  <a:pt x="0" y="0"/>
                </a:moveTo>
                <a:lnTo>
                  <a:pt x="377155" y="0"/>
                </a:lnTo>
                <a:lnTo>
                  <a:pt x="377155" y="597796"/>
                </a:lnTo>
                <a:lnTo>
                  <a:pt x="0" y="597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361012" y="2915114"/>
            <a:ext cx="6357875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Considérons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l’équation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suivante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5480" y="3182107"/>
            <a:ext cx="4020713" cy="1443333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762677" y="4683760"/>
            <a:ext cx="1121841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avec :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3991" y="4686952"/>
            <a:ext cx="5478581" cy="1697789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05642" y="5926121"/>
            <a:ext cx="4952322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Résolvons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l’équation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dans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00626" y="5926210"/>
            <a:ext cx="728766" cy="439573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3861" y="6368277"/>
            <a:ext cx="2562263" cy="794393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4519" y="6670109"/>
            <a:ext cx="4834368" cy="1544312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12793" y="7841384"/>
            <a:ext cx="2095078" cy="668852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80622" y="8545715"/>
            <a:ext cx="1281131" cy="536288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42897" y="3803988"/>
            <a:ext cx="2984098" cy="940196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8576081" y="4618906"/>
            <a:ext cx="9092203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Donc l’équation admet deux solutions réelles distinctes.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7265" y="4724316"/>
            <a:ext cx="9738360" cy="4065931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46641" y="7732762"/>
            <a:ext cx="4776611" cy="1479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98419" y="-159487"/>
            <a:ext cx="10864830" cy="10691709"/>
            <a:chOff x="0" y="0"/>
            <a:chExt cx="9621263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1263" cy="9467958"/>
            </a:xfrm>
            <a:custGeom>
              <a:avLst/>
              <a:gdLst/>
              <a:ahLst/>
              <a:cxnLst/>
              <a:rect l="l" t="t" r="r" b="b"/>
              <a:pathLst>
                <a:path w="9621263" h="9467958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00680" y="1028700"/>
            <a:ext cx="10085956" cy="5733028"/>
            <a:chOff x="0" y="0"/>
            <a:chExt cx="8931538" cy="5076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31538" cy="5076837"/>
            </a:xfrm>
            <a:custGeom>
              <a:avLst/>
              <a:gdLst/>
              <a:ahLst/>
              <a:cxnLst/>
              <a:rect l="l" t="t" r="r" b="b"/>
              <a:pathLst>
                <a:path w="8931538" h="5076837">
                  <a:moveTo>
                    <a:pt x="0" y="0"/>
                  </a:moveTo>
                  <a:lnTo>
                    <a:pt x="8931538" y="0"/>
                  </a:lnTo>
                  <a:lnTo>
                    <a:pt x="8931538" y="5076837"/>
                  </a:lnTo>
                  <a:lnTo>
                    <a:pt x="0" y="5076837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931538" cy="5105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7708" y="2946115"/>
            <a:ext cx="6940712" cy="3000617"/>
            <a:chOff x="0" y="0"/>
            <a:chExt cx="9254282" cy="400082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1397954"/>
              <a:ext cx="9254282" cy="2602869"/>
              <a:chOff x="0" y="0"/>
              <a:chExt cx="6146292" cy="172871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146292" cy="1728712"/>
              </a:xfrm>
              <a:custGeom>
                <a:avLst/>
                <a:gdLst/>
                <a:ahLst/>
                <a:cxnLst/>
                <a:rect l="l" t="t" r="r" b="b"/>
                <a:pathLst>
                  <a:path w="6146292" h="1728712">
                    <a:moveTo>
                      <a:pt x="0" y="0"/>
                    </a:moveTo>
                    <a:lnTo>
                      <a:pt x="6146292" y="0"/>
                    </a:lnTo>
                    <a:lnTo>
                      <a:pt x="6146292" y="1728712"/>
                    </a:lnTo>
                    <a:lnTo>
                      <a:pt x="0" y="1728712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146292" cy="17572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63236" y="1735459"/>
              <a:ext cx="5764796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9254282" cy="1434727"/>
              <a:chOff x="0" y="0"/>
              <a:chExt cx="995256" cy="15429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95256" cy="154298"/>
              </a:xfrm>
              <a:custGeom>
                <a:avLst/>
                <a:gdLst/>
                <a:ahLst/>
                <a:cxnLst/>
                <a:rect l="l" t="t" r="r" b="b"/>
                <a:pathLst>
                  <a:path w="995256" h="154298">
                    <a:moveTo>
                      <a:pt x="0" y="0"/>
                    </a:moveTo>
                    <a:lnTo>
                      <a:pt x="995256" y="0"/>
                    </a:lnTo>
                    <a:lnTo>
                      <a:pt x="995256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995256" cy="1923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27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663236" y="289162"/>
              <a:ext cx="8039550" cy="808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940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considèrons l’équation :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00680" y="6550516"/>
            <a:ext cx="3792802" cy="2316907"/>
            <a:chOff x="0" y="0"/>
            <a:chExt cx="5057069" cy="308921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057069" cy="3089210"/>
              <a:chOff x="0" y="0"/>
              <a:chExt cx="2198139" cy="134277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198139" cy="1342776"/>
              </a:xfrm>
              <a:custGeom>
                <a:avLst/>
                <a:gdLst/>
                <a:ahLst/>
                <a:cxnLst/>
                <a:rect l="l" t="t" r="r" b="b"/>
                <a:pathLst>
                  <a:path w="2198139" h="1342776">
                    <a:moveTo>
                      <a:pt x="0" y="0"/>
                    </a:moveTo>
                    <a:lnTo>
                      <a:pt x="2198139" y="0"/>
                    </a:lnTo>
                    <a:lnTo>
                      <a:pt x="2198139" y="1342776"/>
                    </a:lnTo>
                    <a:lnTo>
                      <a:pt x="0" y="1342776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2198139" cy="13618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085681" y="881314"/>
              <a:ext cx="3971388" cy="103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3128"/>
                </a:lnSpc>
              </a:pPr>
              <a:r>
                <a:rPr lang="en-US" sz="2406" b="1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Pas factorisable dans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829560"/>
              <a:ext cx="5057069" cy="916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75"/>
                </a:lnSpc>
              </a:pPr>
              <a:endParaRPr/>
            </a:p>
          </p:txBody>
        </p:sp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51" y="3913716"/>
            <a:ext cx="7459790" cy="1851433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982" y="4341392"/>
            <a:ext cx="1782455" cy="711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1642" y="1632563"/>
            <a:ext cx="2694905" cy="83551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4642" y="4294922"/>
            <a:ext cx="1818030" cy="761036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8" y="4282296"/>
            <a:ext cx="1969532" cy="786286"/>
          </a:xfrm>
          <a:prstGeom prst="rect">
            <a:avLst/>
          </a:prstGeom>
        </p:spPr>
      </p:pic>
      <p:sp>
        <p:nvSpPr>
          <p:cNvPr id="28" name="Freeform 28"/>
          <p:cNvSpPr/>
          <p:nvPr/>
        </p:nvSpPr>
        <p:spPr>
          <a:xfrm>
            <a:off x="9144000" y="4904454"/>
            <a:ext cx="1265670" cy="1646061"/>
          </a:xfrm>
          <a:custGeom>
            <a:avLst/>
            <a:gdLst/>
            <a:ahLst/>
            <a:cxnLst/>
            <a:rect l="l" t="t" r="r" b="b"/>
            <a:pathLst>
              <a:path w="1265670" h="1646061">
                <a:moveTo>
                  <a:pt x="0" y="0"/>
                </a:moveTo>
                <a:lnTo>
                  <a:pt x="1265670" y="0"/>
                </a:lnTo>
                <a:lnTo>
                  <a:pt x="1265670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311" r="-134065" b="-200932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552453" y="1628569"/>
            <a:ext cx="8582409" cy="3557799"/>
          </a:xfrm>
          <a:custGeom>
            <a:avLst/>
            <a:gdLst/>
            <a:ahLst/>
            <a:cxnLst/>
            <a:rect l="l" t="t" r="r" b="b"/>
            <a:pathLst>
              <a:path w="8582409" h="3557799">
                <a:moveTo>
                  <a:pt x="0" y="0"/>
                </a:moveTo>
                <a:lnTo>
                  <a:pt x="8582409" y="0"/>
                </a:lnTo>
                <a:lnTo>
                  <a:pt x="8582409" y="3557798"/>
                </a:lnTo>
                <a:lnTo>
                  <a:pt x="0" y="3557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1864" y="7223998"/>
            <a:ext cx="902128" cy="49207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8772" y="7612589"/>
            <a:ext cx="339613" cy="316029"/>
          </a:xfrm>
          <a:prstGeom prst="rect">
            <a:avLst/>
          </a:prstGeom>
        </p:spPr>
      </p:pic>
      <p:sp>
        <p:nvSpPr>
          <p:cNvPr id="32" name="Freeform 32"/>
          <p:cNvSpPr/>
          <p:nvPr/>
        </p:nvSpPr>
        <p:spPr>
          <a:xfrm>
            <a:off x="10372324" y="4904454"/>
            <a:ext cx="4953540" cy="1646061"/>
          </a:xfrm>
          <a:custGeom>
            <a:avLst/>
            <a:gdLst/>
            <a:ahLst/>
            <a:cxnLst/>
            <a:rect l="l" t="t" r="r" b="b"/>
            <a:pathLst>
              <a:path w="4953540" h="1646061">
                <a:moveTo>
                  <a:pt x="0" y="0"/>
                </a:moveTo>
                <a:lnTo>
                  <a:pt x="4953541" y="0"/>
                </a:lnTo>
                <a:lnTo>
                  <a:pt x="4953541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00932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1593481" y="6550516"/>
            <a:ext cx="3217612" cy="2316907"/>
            <a:chOff x="0" y="0"/>
            <a:chExt cx="4290149" cy="308921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4290149" cy="3089210"/>
              <a:chOff x="0" y="0"/>
              <a:chExt cx="1747488" cy="125831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747488" cy="1258314"/>
              </a:xfrm>
              <a:custGeom>
                <a:avLst/>
                <a:gdLst/>
                <a:ahLst/>
                <a:cxnLst/>
                <a:rect l="l" t="t" r="r" b="b"/>
                <a:pathLst>
                  <a:path w="1747488" h="1258314">
                    <a:moveTo>
                      <a:pt x="0" y="0"/>
                    </a:moveTo>
                    <a:lnTo>
                      <a:pt x="1747488" y="0"/>
                    </a:lnTo>
                    <a:lnTo>
                      <a:pt x="1747488" y="1258314"/>
                    </a:lnTo>
                    <a:lnTo>
                      <a:pt x="0" y="12583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19050"/>
                <a:ext cx="1747488" cy="1277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21034" y="905291"/>
              <a:ext cx="3369115" cy="859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299"/>
                </a:lnSpc>
              </a:pPr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1268368"/>
              <a:ext cx="4290149" cy="97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3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3524439" y="4904454"/>
            <a:ext cx="4953540" cy="1646061"/>
          </a:xfrm>
          <a:custGeom>
            <a:avLst/>
            <a:gdLst/>
            <a:ahLst/>
            <a:cxnLst/>
            <a:rect l="l" t="t" r="r" b="b"/>
            <a:pathLst>
              <a:path w="4953540" h="1646061">
                <a:moveTo>
                  <a:pt x="0" y="0"/>
                </a:moveTo>
                <a:lnTo>
                  <a:pt x="4953540" y="0"/>
                </a:lnTo>
                <a:lnTo>
                  <a:pt x="4953540" y="1646062"/>
                </a:lnTo>
                <a:lnTo>
                  <a:pt x="0" y="16460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00932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28700" y="557006"/>
            <a:ext cx="6569719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Factorisation d’un trinôme du second degré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4811093" y="6550516"/>
            <a:ext cx="3476907" cy="2316907"/>
            <a:chOff x="0" y="0"/>
            <a:chExt cx="4635876" cy="308921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4635876" cy="3089210"/>
              <a:chOff x="0" y="0"/>
              <a:chExt cx="1888311" cy="125831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888311" cy="1258314"/>
              </a:xfrm>
              <a:custGeom>
                <a:avLst/>
                <a:gdLst/>
                <a:ahLst/>
                <a:cxnLst/>
                <a:rect l="l" t="t" r="r" b="b"/>
                <a:pathLst>
                  <a:path w="1888311" h="1258314">
                    <a:moveTo>
                      <a:pt x="0" y="0"/>
                    </a:moveTo>
                    <a:lnTo>
                      <a:pt x="1888311" y="0"/>
                    </a:lnTo>
                    <a:lnTo>
                      <a:pt x="1888311" y="1258314"/>
                    </a:lnTo>
                    <a:lnTo>
                      <a:pt x="0" y="12583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28575"/>
                <a:ext cx="1888311" cy="1286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995257" y="905291"/>
              <a:ext cx="3640619" cy="859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5299"/>
                </a:lnSpc>
              </a:pPr>
              <a:endParaRPr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1268368"/>
              <a:ext cx="4635876" cy="9720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63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63035" y="6194382"/>
            <a:ext cx="5779144" cy="339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factorisation transforme une expression quadratique en produit de deux facteurs du premier degré, ce qui simplifie considérablement l’étude du signe et la résolution des inéquations.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46238" y="7047346"/>
            <a:ext cx="3806618" cy="1040475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39264" y="7118896"/>
            <a:ext cx="2278410" cy="84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27660" y="-3168323"/>
            <a:ext cx="5445555" cy="6336645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11125"/>
              <a:ext cx="6985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120038" y="-1093713"/>
            <a:ext cx="4849741" cy="4832106"/>
          </a:xfrm>
          <a:custGeom>
            <a:avLst/>
            <a:gdLst/>
            <a:ahLst/>
            <a:cxnLst/>
            <a:rect l="l" t="t" r="r" b="b"/>
            <a:pathLst>
              <a:path w="4849741" h="4832106">
                <a:moveTo>
                  <a:pt x="0" y="0"/>
                </a:moveTo>
                <a:lnTo>
                  <a:pt x="4849741" y="0"/>
                </a:lnTo>
                <a:lnTo>
                  <a:pt x="4849741" y="4832106"/>
                </a:lnTo>
                <a:lnTo>
                  <a:pt x="0" y="4832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 rot="-799724">
            <a:off x="15743595" y="1108703"/>
            <a:ext cx="640301" cy="6403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6458DD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0270443" y="-1093713"/>
            <a:ext cx="4274465" cy="4274465"/>
          </a:xfrm>
          <a:custGeom>
            <a:avLst/>
            <a:gdLst/>
            <a:ahLst/>
            <a:cxnLst/>
            <a:rect l="l" t="t" r="r" b="b"/>
            <a:pathLst>
              <a:path w="4274465" h="4274465">
                <a:moveTo>
                  <a:pt x="0" y="4274465"/>
                </a:moveTo>
                <a:lnTo>
                  <a:pt x="4274465" y="4274465"/>
                </a:lnTo>
                <a:lnTo>
                  <a:pt x="4274465" y="0"/>
                </a:lnTo>
                <a:lnTo>
                  <a:pt x="0" y="0"/>
                </a:lnTo>
                <a:lnTo>
                  <a:pt x="0" y="42744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662753" y="364391"/>
            <a:ext cx="7519697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19"/>
              </a:lnSpc>
              <a:spcBef>
                <a:spcPct val="0"/>
              </a:spcBef>
            </a:pPr>
            <a:r>
              <a:rPr lang="en-US" sz="684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Application numérique</a:t>
            </a:r>
          </a:p>
        </p:txBody>
      </p:sp>
      <p:sp>
        <p:nvSpPr>
          <p:cNvPr id="11" name="Freeform 11"/>
          <p:cNvSpPr/>
          <p:nvPr/>
        </p:nvSpPr>
        <p:spPr>
          <a:xfrm>
            <a:off x="9609589" y="402491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8576081" y="3738393"/>
            <a:ext cx="9300729" cy="5236849"/>
            <a:chOff x="0" y="0"/>
            <a:chExt cx="10924304" cy="61510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24305" cy="6151016"/>
            </a:xfrm>
            <a:custGeom>
              <a:avLst/>
              <a:gdLst/>
              <a:ahLst/>
              <a:cxnLst/>
              <a:rect l="l" t="t" r="r" b="b"/>
              <a:pathLst>
                <a:path w="10924305" h="6151016">
                  <a:moveTo>
                    <a:pt x="0" y="0"/>
                  </a:moveTo>
                  <a:lnTo>
                    <a:pt x="10924305" y="0"/>
                  </a:lnTo>
                  <a:lnTo>
                    <a:pt x="10924305" y="6151016"/>
                  </a:lnTo>
                  <a:lnTo>
                    <a:pt x="0" y="6151016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0924304" cy="61795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112654" y="1322340"/>
            <a:ext cx="1111260" cy="1618777"/>
            <a:chOff x="0" y="0"/>
            <a:chExt cx="1481680" cy="215836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40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08673" y="0"/>
              <a:ext cx="1264334" cy="1915657"/>
            </a:xfrm>
            <a:custGeom>
              <a:avLst/>
              <a:gdLst/>
              <a:ahLst/>
              <a:cxnLst/>
              <a:rect l="l" t="t" r="r" b="b"/>
              <a:pathLst>
                <a:path w="1264334" h="1915657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Freeform 20"/>
          <p:cNvSpPr/>
          <p:nvPr/>
        </p:nvSpPr>
        <p:spPr>
          <a:xfrm>
            <a:off x="16592624" y="2582956"/>
            <a:ext cx="377155" cy="597796"/>
          </a:xfrm>
          <a:custGeom>
            <a:avLst/>
            <a:gdLst/>
            <a:ahLst/>
            <a:cxnLst/>
            <a:rect l="l" t="t" r="r" b="b"/>
            <a:pathLst>
              <a:path w="377155" h="597796">
                <a:moveTo>
                  <a:pt x="0" y="0"/>
                </a:moveTo>
                <a:lnTo>
                  <a:pt x="377155" y="0"/>
                </a:lnTo>
                <a:lnTo>
                  <a:pt x="377155" y="597796"/>
                </a:lnTo>
                <a:lnTo>
                  <a:pt x="0" y="597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0" y="2576195"/>
            <a:ext cx="7117145" cy="137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applique maintenant la factorisation à l’équation déjà résolue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5480" y="3330997"/>
            <a:ext cx="4020713" cy="1443333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79807" y="4641438"/>
            <a:ext cx="2655631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 trouvé :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89783" y="4868494"/>
            <a:ext cx="6729071" cy="1676427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59108" y="3706690"/>
            <a:ext cx="4151677" cy="1134792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4903714" y="4683760"/>
            <a:ext cx="9092203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Donc :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2004" y="4641438"/>
            <a:ext cx="9453749" cy="2307958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23119" y="6569957"/>
            <a:ext cx="783550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Comme              ,le trinôme se factorise sous la forme :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33174" y="6491202"/>
            <a:ext cx="1402264" cy="55981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5794" y="7134535"/>
            <a:ext cx="6176942" cy="1688364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970459" y="6522191"/>
            <a:ext cx="2599968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peut écrire :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6725" y="6785102"/>
            <a:ext cx="5656442" cy="17283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88894" y="-159487"/>
            <a:ext cx="10864830" cy="10691709"/>
            <a:chOff x="0" y="0"/>
            <a:chExt cx="9621263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21263" cy="9467958"/>
            </a:xfrm>
            <a:custGeom>
              <a:avLst/>
              <a:gdLst/>
              <a:ahLst/>
              <a:cxnLst/>
              <a:rect l="l" t="t" r="r" b="b"/>
              <a:pathLst>
                <a:path w="9621263" h="9467958">
                  <a:moveTo>
                    <a:pt x="0" y="0"/>
                  </a:moveTo>
                  <a:lnTo>
                    <a:pt x="9621263" y="0"/>
                  </a:lnTo>
                  <a:lnTo>
                    <a:pt x="9621263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621263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0434" y="4908843"/>
            <a:ext cx="5414246" cy="2988988"/>
            <a:chOff x="0" y="0"/>
            <a:chExt cx="7218994" cy="3985318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1397954"/>
              <a:ext cx="7218994" cy="2587363"/>
              <a:chOff x="0" y="0"/>
              <a:chExt cx="4794542" cy="1718414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794542" cy="1718414"/>
              </a:xfrm>
              <a:custGeom>
                <a:avLst/>
                <a:gdLst/>
                <a:ahLst/>
                <a:cxnLst/>
                <a:rect l="l" t="t" r="r" b="b"/>
                <a:pathLst>
                  <a:path w="4794542" h="1718414">
                    <a:moveTo>
                      <a:pt x="0" y="0"/>
                    </a:moveTo>
                    <a:lnTo>
                      <a:pt x="4794542" y="0"/>
                    </a:lnTo>
                    <a:lnTo>
                      <a:pt x="4794542" y="1718414"/>
                    </a:lnTo>
                    <a:lnTo>
                      <a:pt x="0" y="17184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4794542" cy="17469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63236" y="1735459"/>
              <a:ext cx="5764796" cy="6007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780"/>
                </a:lnSpc>
                <a:spcBef>
                  <a:spcPct val="0"/>
                </a:spcBef>
              </a:pPr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0"/>
              <a:ext cx="7218994" cy="1434727"/>
              <a:chOff x="0" y="0"/>
              <a:chExt cx="776370" cy="15429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76370" cy="154298"/>
              </a:xfrm>
              <a:custGeom>
                <a:avLst/>
                <a:gdLst/>
                <a:ahLst/>
                <a:cxnLst/>
                <a:rect l="l" t="t" r="r" b="b"/>
                <a:pathLst>
                  <a:path w="776370" h="154298">
                    <a:moveTo>
                      <a:pt x="0" y="0"/>
                    </a:moveTo>
                    <a:lnTo>
                      <a:pt x="776370" y="0"/>
                    </a:lnTo>
                    <a:lnTo>
                      <a:pt x="776370" y="154298"/>
                    </a:lnTo>
                    <a:lnTo>
                      <a:pt x="0" y="154298"/>
                    </a:lnTo>
                    <a:close/>
                  </a:path>
                </a:pathLst>
              </a:custGeom>
              <a:solidFill>
                <a:srgbClr val="6458DD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76370" cy="1923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27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63236" y="289162"/>
              <a:ext cx="5856778" cy="808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4940"/>
                </a:lnSpc>
                <a:spcBef>
                  <a:spcPct val="0"/>
                </a:spcBef>
              </a:pPr>
              <a:r>
                <a:rPr lang="en-US" sz="3800" b="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Avec 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51282" y="1620276"/>
            <a:ext cx="7940055" cy="5453468"/>
            <a:chOff x="0" y="0"/>
            <a:chExt cx="7031252" cy="48292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31252" cy="4829275"/>
            </a:xfrm>
            <a:custGeom>
              <a:avLst/>
              <a:gdLst/>
              <a:ahLst/>
              <a:cxnLst/>
              <a:rect l="l" t="t" r="r" b="b"/>
              <a:pathLst>
                <a:path w="7031252" h="4829275">
                  <a:moveTo>
                    <a:pt x="0" y="0"/>
                  </a:moveTo>
                  <a:lnTo>
                    <a:pt x="7031252" y="0"/>
                  </a:lnTo>
                  <a:lnTo>
                    <a:pt x="7031252" y="4829275"/>
                  </a:lnTo>
                  <a:lnTo>
                    <a:pt x="0" y="4829275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031252" cy="485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81462" y="7897831"/>
            <a:ext cx="1111260" cy="1618777"/>
            <a:chOff x="0" y="0"/>
            <a:chExt cx="1481680" cy="2158369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40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08673" y="0"/>
              <a:ext cx="1264334" cy="1915657"/>
            </a:xfrm>
            <a:custGeom>
              <a:avLst/>
              <a:gdLst/>
              <a:ahLst/>
              <a:cxnLst/>
              <a:rect l="l" t="t" r="r" b="b"/>
              <a:pathLst>
                <a:path w="1264334" h="1915657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559" y="6303335"/>
            <a:ext cx="2145995" cy="1063586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28700" y="1000125"/>
            <a:ext cx="5846023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Inéquations du second degré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352666" y="7310867"/>
            <a:ext cx="6305820" cy="2205741"/>
            <a:chOff x="0" y="0"/>
            <a:chExt cx="8407760" cy="2940988"/>
          </a:xfrm>
        </p:grpSpPr>
        <p:sp>
          <p:nvSpPr>
            <p:cNvPr id="25" name="TextBox 25"/>
            <p:cNvSpPr txBox="1"/>
            <p:nvPr/>
          </p:nvSpPr>
          <p:spPr>
            <a:xfrm>
              <a:off x="69817" y="571473"/>
              <a:ext cx="8337943" cy="2369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588"/>
                </a:lnSpc>
                <a:spcBef>
                  <a:spcPct val="0"/>
                </a:spcBef>
              </a:pPr>
              <a:r>
                <a:rPr lang="en-US" sz="2562">
                  <a:solidFill>
                    <a:srgbClr val="242424"/>
                  </a:solidFill>
                  <a:latin typeface="Inter"/>
                  <a:ea typeface="Inter"/>
                  <a:cs typeface="Inter"/>
                  <a:sym typeface="Inter"/>
                </a:rPr>
                <a:t>L’objectif n’est plus de trouver des valeurs précises, mais de déterminer les intervalles de    pour lesquels l’expression est positive ou négative.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4238789" cy="467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2921"/>
                </a:lnSpc>
                <a:spcBef>
                  <a:spcPct val="0"/>
                </a:spcBef>
              </a:pPr>
              <a:r>
                <a:rPr lang="en-US" sz="2086" b="1">
                  <a:solidFill>
                    <a:srgbClr val="242424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Souviens-toi :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20937" y="2645119"/>
            <a:ext cx="7093239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919"/>
              </a:lnSpc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Une inéquation du second degré est une inéquation qui s’écrit sous la forme :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049" y="3374109"/>
            <a:ext cx="5843016" cy="1722941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7424" y="8797132"/>
            <a:ext cx="273056" cy="22249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9051282" y="201051"/>
            <a:ext cx="5846023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Méthode de résolution 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76736" y="1695450"/>
            <a:ext cx="4976456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résolution se fait en 3 étapes 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70758" y="2071602"/>
            <a:ext cx="5453322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1) </a:t>
            </a:r>
            <a:r>
              <a:rPr lang="en-US" sz="25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Résoudre</a:t>
            </a:r>
            <a:r>
              <a:rPr lang="en-US" sz="25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l’équation</a:t>
            </a:r>
            <a:r>
              <a:rPr lang="en-US" sz="25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associée</a:t>
            </a:r>
            <a:endParaRPr lang="en-US" sz="2599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80" y="2297930"/>
            <a:ext cx="2598622" cy="826835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9809645" y="2984859"/>
            <a:ext cx="364105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2) Factoriser le trinôme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531872" y="3467108"/>
            <a:ext cx="503893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765" y="3385054"/>
            <a:ext cx="1331761" cy="478068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9645" y="3279973"/>
            <a:ext cx="6683485" cy="1597691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8352666" y="4291195"/>
            <a:ext cx="7940055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3) Construire le tableau de signe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09645" y="4847043"/>
            <a:ext cx="6106542" cy="163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 signe du produit dépend :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 signe de 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 signe des facteurs</a:t>
            </a:r>
          </a:p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la position par rapport aux racines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70154" y="5346421"/>
            <a:ext cx="273056" cy="222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32654" y="-159487"/>
            <a:ext cx="12230595" cy="10691709"/>
            <a:chOff x="0" y="0"/>
            <a:chExt cx="10830706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0706" cy="9467958"/>
            </a:xfrm>
            <a:custGeom>
              <a:avLst/>
              <a:gdLst/>
              <a:ahLst/>
              <a:cxnLst/>
              <a:rect l="l" t="t" r="r" b="b"/>
              <a:pathLst>
                <a:path w="10830706" h="9467958">
                  <a:moveTo>
                    <a:pt x="0" y="0"/>
                  </a:moveTo>
                  <a:lnTo>
                    <a:pt x="10830706" y="0"/>
                  </a:lnTo>
                  <a:lnTo>
                    <a:pt x="10830706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830706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06507" y="817487"/>
            <a:ext cx="10487320" cy="5733028"/>
            <a:chOff x="0" y="0"/>
            <a:chExt cx="9286963" cy="50768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963" cy="5076837"/>
            </a:xfrm>
            <a:custGeom>
              <a:avLst/>
              <a:gdLst/>
              <a:ahLst/>
              <a:cxnLst/>
              <a:rect l="l" t="t" r="r" b="b"/>
              <a:pathLst>
                <a:path w="9286963" h="5076837">
                  <a:moveTo>
                    <a:pt x="0" y="0"/>
                  </a:moveTo>
                  <a:lnTo>
                    <a:pt x="9286963" y="0"/>
                  </a:lnTo>
                  <a:lnTo>
                    <a:pt x="9286963" y="5076837"/>
                  </a:lnTo>
                  <a:lnTo>
                    <a:pt x="0" y="5076837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286963" cy="5105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06507" y="6550516"/>
            <a:ext cx="6305987" cy="3113615"/>
            <a:chOff x="0" y="0"/>
            <a:chExt cx="8407983" cy="415148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8407983" cy="4151486"/>
              <a:chOff x="0" y="0"/>
              <a:chExt cx="2719517" cy="13427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719517" cy="1342776"/>
              </a:xfrm>
              <a:custGeom>
                <a:avLst/>
                <a:gdLst/>
                <a:ahLst/>
                <a:cxnLst/>
                <a:rect l="l" t="t" r="r" b="b"/>
                <a:pathLst>
                  <a:path w="2719517" h="1342776">
                    <a:moveTo>
                      <a:pt x="0" y="0"/>
                    </a:moveTo>
                    <a:lnTo>
                      <a:pt x="2719517" y="0"/>
                    </a:lnTo>
                    <a:lnTo>
                      <a:pt x="2719517" y="1342776"/>
                    </a:lnTo>
                    <a:lnTo>
                      <a:pt x="0" y="1342776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2719517" cy="13618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2459588"/>
              <a:ext cx="8407983" cy="1230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76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12494" y="6550516"/>
            <a:ext cx="5475506" cy="3113615"/>
            <a:chOff x="0" y="0"/>
            <a:chExt cx="7300674" cy="415148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300674" cy="4151486"/>
              <a:chOff x="0" y="0"/>
              <a:chExt cx="2212832" cy="125831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212832" cy="1258314"/>
              </a:xfrm>
              <a:custGeom>
                <a:avLst/>
                <a:gdLst/>
                <a:ahLst/>
                <a:cxnLst/>
                <a:rect l="l" t="t" r="r" b="b"/>
                <a:pathLst>
                  <a:path w="2212832" h="1258314">
                    <a:moveTo>
                      <a:pt x="0" y="0"/>
                    </a:moveTo>
                    <a:lnTo>
                      <a:pt x="2212832" y="0"/>
                    </a:lnTo>
                    <a:lnTo>
                      <a:pt x="2212832" y="1258314"/>
                    </a:lnTo>
                    <a:lnTo>
                      <a:pt x="0" y="1258314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2212832" cy="128688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0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567352" y="1201116"/>
              <a:ext cx="5733323" cy="117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ctr">
                <a:lnSpc>
                  <a:spcPts val="7121"/>
                </a:lnSpc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695896"/>
              <a:ext cx="7300674" cy="13148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82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598419" y="2744288"/>
            <a:ext cx="8974539" cy="2714798"/>
          </a:xfrm>
          <a:custGeom>
            <a:avLst/>
            <a:gdLst/>
            <a:ahLst/>
            <a:cxnLst/>
            <a:rect l="l" t="t" r="r" b="b"/>
            <a:pathLst>
              <a:path w="8974539" h="2714798">
                <a:moveTo>
                  <a:pt x="0" y="0"/>
                </a:moveTo>
                <a:lnTo>
                  <a:pt x="8974539" y="0"/>
                </a:lnTo>
                <a:lnTo>
                  <a:pt x="8974539" y="2714798"/>
                </a:lnTo>
                <a:lnTo>
                  <a:pt x="0" y="2714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895" y="1322170"/>
            <a:ext cx="3596546" cy="143583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905" y="6580684"/>
            <a:ext cx="2172528" cy="909430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6574359" y="7350170"/>
            <a:ext cx="6238136" cy="1655207"/>
          </a:xfrm>
          <a:custGeom>
            <a:avLst/>
            <a:gdLst/>
            <a:ahLst/>
            <a:cxnLst/>
            <a:rect l="l" t="t" r="r" b="b"/>
            <a:pathLst>
              <a:path w="6238136" h="1655207">
                <a:moveTo>
                  <a:pt x="0" y="0"/>
                </a:moveTo>
                <a:lnTo>
                  <a:pt x="6238135" y="0"/>
                </a:lnTo>
                <a:lnTo>
                  <a:pt x="6238135" y="1655207"/>
                </a:lnTo>
                <a:lnTo>
                  <a:pt x="0" y="1655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400" b="-2400"/>
            </a:stretch>
          </a:blipFill>
        </p:spPr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03044" y="6589579"/>
            <a:ext cx="2065793" cy="824716"/>
          </a:xfrm>
          <a:prstGeom prst="rect">
            <a:avLst/>
          </a:prstGeom>
        </p:spPr>
      </p:pic>
      <p:sp>
        <p:nvSpPr>
          <p:cNvPr id="24" name="Freeform 24"/>
          <p:cNvSpPr/>
          <p:nvPr/>
        </p:nvSpPr>
        <p:spPr>
          <a:xfrm>
            <a:off x="12812494" y="7350170"/>
            <a:ext cx="5339963" cy="1318892"/>
          </a:xfrm>
          <a:custGeom>
            <a:avLst/>
            <a:gdLst/>
            <a:ahLst/>
            <a:cxnLst/>
            <a:rect l="l" t="t" r="r" b="b"/>
            <a:pathLst>
              <a:path w="5339963" h="1318892">
                <a:moveTo>
                  <a:pt x="0" y="0"/>
                </a:moveTo>
                <a:lnTo>
                  <a:pt x="5339963" y="0"/>
                </a:lnTo>
                <a:lnTo>
                  <a:pt x="5339963" y="1318892"/>
                </a:lnTo>
                <a:lnTo>
                  <a:pt x="0" y="1318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3751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38125" y="652463"/>
            <a:ext cx="656971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Tableau de signe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8125" y="3655427"/>
            <a:ext cx="5779144" cy="290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tableau de signe est un outil algébrique qui permet d’étudier le signe d’une expression mathématique (polynôme, produit, quotient) selon les valeurs de la variable.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C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17393"/>
            <a:ext cx="18638907" cy="6972444"/>
            <a:chOff x="0" y="0"/>
            <a:chExt cx="1738603" cy="6503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8603" cy="650377"/>
            </a:xfrm>
            <a:custGeom>
              <a:avLst/>
              <a:gdLst/>
              <a:ahLst/>
              <a:cxnLst/>
              <a:rect l="l" t="t" r="r" b="b"/>
              <a:pathLst>
                <a:path w="1738603" h="650377">
                  <a:moveTo>
                    <a:pt x="0" y="0"/>
                  </a:moveTo>
                  <a:lnTo>
                    <a:pt x="1738603" y="0"/>
                  </a:lnTo>
                  <a:lnTo>
                    <a:pt x="1738603" y="650377"/>
                  </a:lnTo>
                  <a:lnTo>
                    <a:pt x="0" y="650377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38603" cy="678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3793" y="683266"/>
            <a:ext cx="7872661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Résoudre dans    </a:t>
            </a:r>
          </a:p>
          <a:p>
            <a:pPr marL="0" lvl="0" indent="0" algn="l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l ‘inéquation suivante 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708682" y="0"/>
            <a:ext cx="6579318" cy="2067493"/>
            <a:chOff x="0" y="0"/>
            <a:chExt cx="8772424" cy="275665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8772424" cy="2756657"/>
              <a:chOff x="0" y="0"/>
              <a:chExt cx="714671" cy="22457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14671" cy="224579"/>
              </a:xfrm>
              <a:custGeom>
                <a:avLst/>
                <a:gdLst/>
                <a:ahLst/>
                <a:cxnLst/>
                <a:rect l="l" t="t" r="r" b="b"/>
                <a:pathLst>
                  <a:path w="714671" h="224579">
                    <a:moveTo>
                      <a:pt x="0" y="0"/>
                    </a:moveTo>
                    <a:lnTo>
                      <a:pt x="714671" y="0"/>
                    </a:lnTo>
                    <a:lnTo>
                      <a:pt x="714671" y="224579"/>
                    </a:lnTo>
                    <a:lnTo>
                      <a:pt x="0" y="224579"/>
                    </a:lnTo>
                    <a:close/>
                  </a:path>
                </a:pathLst>
              </a:custGeom>
              <a:solidFill>
                <a:srgbClr val="F5F5F5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714671" cy="2531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917593"/>
              <a:ext cx="8532472" cy="902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255"/>
                </a:lnSpc>
                <a:spcBef>
                  <a:spcPct val="0"/>
                </a:spcBef>
              </a:pPr>
              <a:r>
                <a:rPr lang="en-US" sz="4379" b="1">
                  <a:solidFill>
                    <a:srgbClr val="242424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Application numérique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14520812" y="344303"/>
            <a:ext cx="680772" cy="6346179"/>
          </a:xfrm>
          <a:custGeom>
            <a:avLst/>
            <a:gdLst/>
            <a:ahLst/>
            <a:cxnLst/>
            <a:rect l="l" t="t" r="r" b="b"/>
            <a:pathLst>
              <a:path w="680772" h="6346179">
                <a:moveTo>
                  <a:pt x="0" y="0"/>
                </a:moveTo>
                <a:lnTo>
                  <a:pt x="680772" y="0"/>
                </a:lnTo>
                <a:lnTo>
                  <a:pt x="680772" y="6346179"/>
                </a:lnTo>
                <a:lnTo>
                  <a:pt x="0" y="634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17259300" y="2142472"/>
            <a:ext cx="715028" cy="625650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4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395" y="754298"/>
            <a:ext cx="600606" cy="55889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327" y="1687360"/>
            <a:ext cx="6639187" cy="238329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62706" y="3608859"/>
            <a:ext cx="3471093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résout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d’abord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5847" y="3866890"/>
            <a:ext cx="4020713" cy="1443333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07802" y="5143500"/>
            <a:ext cx="3273597" cy="430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 déjà trouvé :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151" y="5166186"/>
            <a:ext cx="6387646" cy="1591367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322924" y="6383065"/>
            <a:ext cx="2648876" cy="435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Factorisons</a:t>
            </a:r>
            <a:r>
              <a:rPr lang="en-US" sz="2799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82" y="6453781"/>
            <a:ext cx="9738360" cy="3177457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5759" y="3801876"/>
            <a:ext cx="11259332" cy="4319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73715" y="5010517"/>
            <a:ext cx="2440744" cy="244074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27000" y="98425"/>
              <a:ext cx="558800" cy="587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3412805" y="5527063"/>
            <a:ext cx="2259648" cy="3571283"/>
          </a:xfrm>
          <a:custGeom>
            <a:avLst/>
            <a:gdLst/>
            <a:ahLst/>
            <a:cxnLst/>
            <a:rect l="l" t="t" r="r" b="b"/>
            <a:pathLst>
              <a:path w="2259648" h="3571283">
                <a:moveTo>
                  <a:pt x="2259648" y="0"/>
                </a:moveTo>
                <a:lnTo>
                  <a:pt x="0" y="0"/>
                </a:lnTo>
                <a:lnTo>
                  <a:pt x="0" y="3571282"/>
                </a:lnTo>
                <a:lnTo>
                  <a:pt x="2259648" y="3571282"/>
                </a:lnTo>
                <a:lnTo>
                  <a:pt x="22596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28700" y="6783596"/>
            <a:ext cx="2384105" cy="2314749"/>
          </a:xfrm>
          <a:custGeom>
            <a:avLst/>
            <a:gdLst/>
            <a:ahLst/>
            <a:cxnLst/>
            <a:rect l="l" t="t" r="r" b="b"/>
            <a:pathLst>
              <a:path w="2384105" h="2314749">
                <a:moveTo>
                  <a:pt x="0" y="0"/>
                </a:moveTo>
                <a:lnTo>
                  <a:pt x="2384105" y="0"/>
                </a:lnTo>
                <a:lnTo>
                  <a:pt x="2384105" y="2314749"/>
                </a:lnTo>
                <a:lnTo>
                  <a:pt x="0" y="23147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387142" y="190708"/>
            <a:ext cx="7293076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Systèmes (méthode du déterminant)</a:t>
            </a:r>
          </a:p>
        </p:txBody>
      </p:sp>
      <p:sp>
        <p:nvSpPr>
          <p:cNvPr id="8" name="Freeform 8"/>
          <p:cNvSpPr/>
          <p:nvPr/>
        </p:nvSpPr>
        <p:spPr>
          <a:xfrm>
            <a:off x="2751950" y="5527063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5" y="0"/>
                </a:lnTo>
                <a:lnTo>
                  <a:pt x="660855" y="641028"/>
                </a:lnTo>
                <a:lnTo>
                  <a:pt x="0" y="6410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7018655" y="568960"/>
            <a:ext cx="2945451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sz="3199" b="1" u="sng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1) Définition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04859" y="1468646"/>
            <a:ext cx="8442722" cy="42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Un système à deux inconnues     et     est de la forme :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4626" y="1579158"/>
            <a:ext cx="295993" cy="241179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9901" y="1576977"/>
            <a:ext cx="221226" cy="26547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442" y="1663593"/>
            <a:ext cx="4663116" cy="210658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077775" y="3755360"/>
            <a:ext cx="10469696" cy="8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Résoudre le système consiste à déterminer les valeurs de    et</a:t>
            </a:r>
          </a:p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qui vérifient simultanément les deux équations.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45754" y="3872612"/>
            <a:ext cx="279852" cy="22802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8912" y="4321485"/>
            <a:ext cx="221226" cy="26547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289525" y="4894580"/>
            <a:ext cx="8616315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 b="1" u="sng">
                <a:solidFill>
                  <a:srgbClr val="242424"/>
                </a:solidFill>
                <a:latin typeface="Inter Bold"/>
                <a:ea typeface="Inter Bold"/>
                <a:cs typeface="Inter Bold"/>
                <a:sym typeface="Inter Bold"/>
              </a:rPr>
              <a:t>2) Méthode du déterminant (méthode de Cramer)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7457" y="4691569"/>
            <a:ext cx="9363670" cy="2872333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4903" y="6124980"/>
            <a:ext cx="9738360" cy="2969854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4820" y="7586074"/>
            <a:ext cx="9738360" cy="2947314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27686" y="8194174"/>
            <a:ext cx="4616306" cy="17311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17269" y="-202355"/>
            <a:ext cx="12230595" cy="10691709"/>
            <a:chOff x="0" y="0"/>
            <a:chExt cx="10830706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0706" cy="9467958"/>
            </a:xfrm>
            <a:custGeom>
              <a:avLst/>
              <a:gdLst/>
              <a:ahLst/>
              <a:cxnLst/>
              <a:rect l="l" t="t" r="r" b="b"/>
              <a:pathLst>
                <a:path w="10830706" h="9467958">
                  <a:moveTo>
                    <a:pt x="0" y="0"/>
                  </a:moveTo>
                  <a:lnTo>
                    <a:pt x="10830706" y="0"/>
                  </a:lnTo>
                  <a:lnTo>
                    <a:pt x="10830706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830706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550753" y="3512742"/>
            <a:ext cx="10487320" cy="3019396"/>
            <a:chOff x="0" y="0"/>
            <a:chExt cx="9286963" cy="2673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963" cy="2673802"/>
            </a:xfrm>
            <a:custGeom>
              <a:avLst/>
              <a:gdLst/>
              <a:ahLst/>
              <a:cxnLst/>
              <a:rect l="l" t="t" r="r" b="b"/>
              <a:pathLst>
                <a:path w="9286963" h="2673802">
                  <a:moveTo>
                    <a:pt x="0" y="0"/>
                  </a:moveTo>
                  <a:lnTo>
                    <a:pt x="9286963" y="0"/>
                  </a:lnTo>
                  <a:lnTo>
                    <a:pt x="9286963" y="2673802"/>
                  </a:lnTo>
                  <a:lnTo>
                    <a:pt x="0" y="2673802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286963" cy="2702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550753" y="7960801"/>
            <a:ext cx="10487320" cy="951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1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38125" y="652463"/>
            <a:ext cx="656971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46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Cas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8125" y="1863489"/>
            <a:ext cx="5779144" cy="241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Les valeurs des discriminants ​ permettent de déterminer si le système a une solution unique, aucune solution, ou une infinité de solutions.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21" y="2926957"/>
            <a:ext cx="12584784" cy="4139466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4069280" y="6289435"/>
            <a:ext cx="5937585" cy="5937730"/>
            <a:chOff x="0" y="0"/>
            <a:chExt cx="812800" cy="8128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20"/>
            </a:xfrm>
            <a:custGeom>
              <a:avLst/>
              <a:gdLst/>
              <a:ahLst/>
              <a:cxnLst/>
              <a:rect l="l" t="t" r="r" b="b"/>
              <a:pathLst>
                <a:path w="812800" h="81282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235884" y="6774587"/>
            <a:ext cx="5960688" cy="2601028"/>
          </a:xfrm>
          <a:custGeom>
            <a:avLst/>
            <a:gdLst/>
            <a:ahLst/>
            <a:cxnLst/>
            <a:rect l="l" t="t" r="r" b="b"/>
            <a:pathLst>
              <a:path w="5960688" h="2601028">
                <a:moveTo>
                  <a:pt x="0" y="0"/>
                </a:moveTo>
                <a:lnTo>
                  <a:pt x="5960688" y="0"/>
                </a:lnTo>
                <a:lnTo>
                  <a:pt x="5960688" y="2601028"/>
                </a:lnTo>
                <a:lnTo>
                  <a:pt x="0" y="26010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028700" y="6783596"/>
            <a:ext cx="2384105" cy="2314749"/>
          </a:xfrm>
          <a:custGeom>
            <a:avLst/>
            <a:gdLst/>
            <a:ahLst/>
            <a:cxnLst/>
            <a:rect l="l" t="t" r="r" b="b"/>
            <a:pathLst>
              <a:path w="2384105" h="2314749">
                <a:moveTo>
                  <a:pt x="0" y="0"/>
                </a:moveTo>
                <a:lnTo>
                  <a:pt x="2384105" y="0"/>
                </a:lnTo>
                <a:lnTo>
                  <a:pt x="2384105" y="2314749"/>
                </a:lnTo>
                <a:lnTo>
                  <a:pt x="0" y="2314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27660" y="-3168323"/>
            <a:ext cx="5445555" cy="4197023"/>
            <a:chOff x="0" y="0"/>
            <a:chExt cx="698500" cy="538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538351"/>
            </a:xfrm>
            <a:custGeom>
              <a:avLst/>
              <a:gdLst/>
              <a:ahLst/>
              <a:cxnLst/>
              <a:rect l="l" t="t" r="r" b="b"/>
              <a:pathLst>
                <a:path w="698500" h="538351">
                  <a:moveTo>
                    <a:pt x="349250" y="0"/>
                  </a:moveTo>
                  <a:lnTo>
                    <a:pt x="698500" y="203200"/>
                  </a:lnTo>
                  <a:lnTo>
                    <a:pt x="698500" y="335151"/>
                  </a:lnTo>
                  <a:lnTo>
                    <a:pt x="349250" y="538351"/>
                  </a:lnTo>
                  <a:lnTo>
                    <a:pt x="0" y="335151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11125"/>
              <a:ext cx="698500" cy="287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824746" y="-1093713"/>
            <a:ext cx="2145033" cy="2137233"/>
          </a:xfrm>
          <a:custGeom>
            <a:avLst/>
            <a:gdLst/>
            <a:ahLst/>
            <a:cxnLst/>
            <a:rect l="l" t="t" r="r" b="b"/>
            <a:pathLst>
              <a:path w="2145033" h="2137233">
                <a:moveTo>
                  <a:pt x="0" y="0"/>
                </a:moveTo>
                <a:lnTo>
                  <a:pt x="2145033" y="0"/>
                </a:lnTo>
                <a:lnTo>
                  <a:pt x="2145033" y="2137233"/>
                </a:lnTo>
                <a:lnTo>
                  <a:pt x="0" y="2137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 rot="-799724">
            <a:off x="15962446" y="17521"/>
            <a:ext cx="640301" cy="6403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6458DD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2022342" y="-1093713"/>
            <a:ext cx="2522566" cy="2522566"/>
          </a:xfrm>
          <a:custGeom>
            <a:avLst/>
            <a:gdLst/>
            <a:ahLst/>
            <a:cxnLst/>
            <a:rect l="l" t="t" r="r" b="b"/>
            <a:pathLst>
              <a:path w="2522566" h="2522566">
                <a:moveTo>
                  <a:pt x="0" y="2522566"/>
                </a:moveTo>
                <a:lnTo>
                  <a:pt x="2522566" y="2522566"/>
                </a:lnTo>
                <a:lnTo>
                  <a:pt x="2522566" y="0"/>
                </a:lnTo>
                <a:lnTo>
                  <a:pt x="0" y="0"/>
                </a:lnTo>
                <a:lnTo>
                  <a:pt x="0" y="252256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3884054" y="799687"/>
            <a:ext cx="660854" cy="641029"/>
          </a:xfrm>
          <a:custGeom>
            <a:avLst/>
            <a:gdLst/>
            <a:ahLst/>
            <a:cxnLst/>
            <a:rect l="l" t="t" r="r" b="b"/>
            <a:pathLst>
              <a:path w="660854" h="641029">
                <a:moveTo>
                  <a:pt x="0" y="0"/>
                </a:moveTo>
                <a:lnTo>
                  <a:pt x="660854" y="0"/>
                </a:lnTo>
                <a:lnTo>
                  <a:pt x="660854" y="641029"/>
                </a:lnTo>
                <a:lnTo>
                  <a:pt x="0" y="641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11744706" y="1076383"/>
            <a:ext cx="6665049" cy="4720752"/>
            <a:chOff x="0" y="0"/>
            <a:chExt cx="7828528" cy="55448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28528" cy="5544826"/>
            </a:xfrm>
            <a:custGeom>
              <a:avLst/>
              <a:gdLst/>
              <a:ahLst/>
              <a:cxnLst/>
              <a:rect l="l" t="t" r="r" b="b"/>
              <a:pathLst>
                <a:path w="7828528" h="5544826">
                  <a:moveTo>
                    <a:pt x="0" y="0"/>
                  </a:moveTo>
                  <a:lnTo>
                    <a:pt x="7828528" y="0"/>
                  </a:lnTo>
                  <a:lnTo>
                    <a:pt x="7828528" y="5544826"/>
                  </a:lnTo>
                  <a:lnTo>
                    <a:pt x="0" y="5544826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828528" cy="5573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76740" y="-590077"/>
            <a:ext cx="1111260" cy="1618777"/>
            <a:chOff x="0" y="0"/>
            <a:chExt cx="1481680" cy="215836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676689"/>
              <a:ext cx="1481680" cy="148168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574675" y="0"/>
                    </a:moveTo>
                    <a:lnTo>
                      <a:pt x="812800" y="238125"/>
                    </a:lnTo>
                    <a:lnTo>
                      <a:pt x="812800" y="574675"/>
                    </a:lnTo>
                    <a:lnTo>
                      <a:pt x="574675" y="812800"/>
                    </a:lnTo>
                    <a:lnTo>
                      <a:pt x="238125" y="812800"/>
                    </a:lnTo>
                    <a:lnTo>
                      <a:pt x="0" y="574675"/>
                    </a:lnTo>
                    <a:lnTo>
                      <a:pt x="0" y="238125"/>
                    </a:lnTo>
                    <a:lnTo>
                      <a:pt x="238125" y="0"/>
                    </a:lnTo>
                    <a:lnTo>
                      <a:pt x="574675" y="0"/>
                    </a:lnTo>
                    <a:close/>
                  </a:path>
                </a:pathLst>
              </a:custGeom>
              <a:solidFill>
                <a:srgbClr val="3EDB86"/>
              </a:solidFill>
              <a:ln w="28575" cap="sq">
                <a:solidFill>
                  <a:srgbClr val="242424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3500" y="34925"/>
                <a:ext cx="685800" cy="7143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4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08673" y="0"/>
              <a:ext cx="1264334" cy="1915657"/>
            </a:xfrm>
            <a:custGeom>
              <a:avLst/>
              <a:gdLst/>
              <a:ahLst/>
              <a:cxnLst/>
              <a:rect l="l" t="t" r="r" b="b"/>
              <a:pathLst>
                <a:path w="1264334" h="1915657">
                  <a:moveTo>
                    <a:pt x="0" y="0"/>
                  </a:moveTo>
                  <a:lnTo>
                    <a:pt x="1264334" y="0"/>
                  </a:lnTo>
                  <a:lnTo>
                    <a:pt x="1264334" y="1915657"/>
                  </a:lnTo>
                  <a:lnTo>
                    <a:pt x="0" y="191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9" name="Freeform 19"/>
          <p:cNvSpPr/>
          <p:nvPr/>
        </p:nvSpPr>
        <p:spPr>
          <a:xfrm>
            <a:off x="16733757" y="445724"/>
            <a:ext cx="377155" cy="597796"/>
          </a:xfrm>
          <a:custGeom>
            <a:avLst/>
            <a:gdLst/>
            <a:ahLst/>
            <a:cxnLst/>
            <a:rect l="l" t="t" r="r" b="b"/>
            <a:pathLst>
              <a:path w="377155" h="597796">
                <a:moveTo>
                  <a:pt x="0" y="0"/>
                </a:moveTo>
                <a:lnTo>
                  <a:pt x="377155" y="0"/>
                </a:lnTo>
                <a:lnTo>
                  <a:pt x="377155" y="597796"/>
                </a:lnTo>
                <a:lnTo>
                  <a:pt x="0" y="597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149441" y="2821453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 le système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368" y="3161195"/>
            <a:ext cx="3302862" cy="1623907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21280" y="4683760"/>
            <a:ext cx="243697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 :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6842" y="4749690"/>
            <a:ext cx="391048" cy="365981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1974717" y="1208780"/>
            <a:ext cx="592686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42424"/>
                </a:solidFill>
                <a:latin typeface="Ubuntu"/>
                <a:ea typeface="Ubuntu"/>
                <a:cs typeface="Ubuntu"/>
                <a:sym typeface="Ubuntu"/>
              </a:rPr>
              <a:t>1) Résoudre dans        le système :</a:t>
            </a: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550">
              <a:solidFill>
                <a:srgbClr val="24242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76552" y="1235087"/>
            <a:ext cx="496388" cy="387531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29746" y="1524573"/>
            <a:ext cx="3908615" cy="1921736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887005" y="3219450"/>
            <a:ext cx="5926863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42424"/>
                </a:solidFill>
                <a:latin typeface="Ubuntu"/>
                <a:ea typeface="Ubuntu"/>
                <a:cs typeface="Ubuntu"/>
                <a:sym typeface="Ubuntu"/>
              </a:rPr>
              <a:t>2) Déduire dans        les solutions du système :  </a:t>
            </a: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550">
              <a:solidFill>
                <a:srgbClr val="242424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550">
              <a:solidFill>
                <a:srgbClr val="242424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550">
              <a:solidFill>
                <a:srgbClr val="24242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96714" y="3197134"/>
            <a:ext cx="496388" cy="387531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67814" y="3842183"/>
            <a:ext cx="3832480" cy="175935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898" y="4951173"/>
            <a:ext cx="5199364" cy="4981361"/>
          </a:xfrm>
          <a:prstGeom prst="rect">
            <a:avLst/>
          </a:prstGeom>
        </p:spPr>
      </p:pic>
      <p:sp>
        <p:nvSpPr>
          <p:cNvPr id="31" name="Freeform 31"/>
          <p:cNvSpPr/>
          <p:nvPr/>
        </p:nvSpPr>
        <p:spPr>
          <a:xfrm>
            <a:off x="2564783" y="2557884"/>
            <a:ext cx="4953540" cy="7917981"/>
          </a:xfrm>
          <a:custGeom>
            <a:avLst/>
            <a:gdLst/>
            <a:ahLst/>
            <a:cxnLst/>
            <a:rect l="l" t="t" r="r" b="b"/>
            <a:pathLst>
              <a:path w="4953540" h="7917981">
                <a:moveTo>
                  <a:pt x="0" y="0"/>
                </a:moveTo>
                <a:lnTo>
                  <a:pt x="4953541" y="0"/>
                </a:lnTo>
                <a:lnTo>
                  <a:pt x="4953541" y="7917980"/>
                </a:lnTo>
                <a:lnTo>
                  <a:pt x="0" y="79179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9922" r="-29922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5312342" y="2839233"/>
            <a:ext cx="243697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 :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1701" y="3100372"/>
            <a:ext cx="4036643" cy="331831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63824" y="2887962"/>
            <a:ext cx="554375" cy="400382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312342" y="6263276"/>
            <a:ext cx="243697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 :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37557" y="6314722"/>
            <a:ext cx="473938" cy="394949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02049" y="6616052"/>
            <a:ext cx="3912473" cy="3379327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45353" y="6014381"/>
            <a:ext cx="4078030" cy="2797489"/>
          </a:xfrm>
          <a:prstGeom prst="rect">
            <a:avLst/>
          </a:prstGeom>
        </p:spPr>
      </p:pic>
      <p:sp>
        <p:nvSpPr>
          <p:cNvPr id="39" name="Freeform 39"/>
          <p:cNvSpPr/>
          <p:nvPr/>
        </p:nvSpPr>
        <p:spPr>
          <a:xfrm>
            <a:off x="8688481" y="2557884"/>
            <a:ext cx="2795886" cy="7917981"/>
          </a:xfrm>
          <a:custGeom>
            <a:avLst/>
            <a:gdLst/>
            <a:ahLst/>
            <a:cxnLst/>
            <a:rect l="l" t="t" r="r" b="b"/>
            <a:pathLst>
              <a:path w="2795886" h="7917981">
                <a:moveTo>
                  <a:pt x="0" y="0"/>
                </a:moveTo>
                <a:lnTo>
                  <a:pt x="2795887" y="0"/>
                </a:lnTo>
                <a:lnTo>
                  <a:pt x="2795887" y="7917980"/>
                </a:lnTo>
                <a:lnTo>
                  <a:pt x="0" y="79179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30186" r="-53014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662753" y="364391"/>
            <a:ext cx="7519697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19"/>
              </a:lnSpc>
              <a:spcBef>
                <a:spcPct val="0"/>
              </a:spcBef>
            </a:pPr>
            <a:r>
              <a:rPr lang="en-US" sz="6849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Application numérique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343387" y="6506703"/>
            <a:ext cx="4972574" cy="1618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18730" y="-210250"/>
            <a:ext cx="6329135" cy="10691709"/>
            <a:chOff x="0" y="0"/>
            <a:chExt cx="5604715" cy="9467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04714" cy="9467958"/>
            </a:xfrm>
            <a:custGeom>
              <a:avLst/>
              <a:gdLst/>
              <a:ahLst/>
              <a:cxnLst/>
              <a:rect l="l" t="t" r="r" b="b"/>
              <a:pathLst>
                <a:path w="5604714" h="9467958">
                  <a:moveTo>
                    <a:pt x="0" y="0"/>
                  </a:moveTo>
                  <a:lnTo>
                    <a:pt x="5604714" y="0"/>
                  </a:lnTo>
                  <a:lnTo>
                    <a:pt x="5604714" y="9467958"/>
                  </a:lnTo>
                  <a:lnTo>
                    <a:pt x="0" y="9467958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604715" cy="9496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550753" y="7960801"/>
            <a:ext cx="10487320" cy="951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1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15664513" y="8236232"/>
            <a:ext cx="5937585" cy="5937730"/>
            <a:chOff x="0" y="0"/>
            <a:chExt cx="812800" cy="8128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20"/>
            </a:xfrm>
            <a:custGeom>
              <a:avLst/>
              <a:gdLst/>
              <a:ahLst/>
              <a:cxnLst/>
              <a:rect l="l" t="t" r="r" b="b"/>
              <a:pathLst>
                <a:path w="812800" h="812820">
                  <a:moveTo>
                    <a:pt x="406400" y="0"/>
                  </a:moveTo>
                  <a:cubicBezTo>
                    <a:pt x="181951" y="0"/>
                    <a:pt x="0" y="181956"/>
                    <a:pt x="0" y="406410"/>
                  </a:cubicBezTo>
                  <a:cubicBezTo>
                    <a:pt x="0" y="630864"/>
                    <a:pt x="181951" y="812820"/>
                    <a:pt x="406400" y="812820"/>
                  </a:cubicBezTo>
                  <a:cubicBezTo>
                    <a:pt x="630849" y="812820"/>
                    <a:pt x="812800" y="630864"/>
                    <a:pt x="812800" y="406410"/>
                  </a:cubicBezTo>
                  <a:cubicBezTo>
                    <a:pt x="812800" y="18195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7"/>
              <a:ext cx="660400" cy="688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528580" y="8168234"/>
            <a:ext cx="5960688" cy="2601028"/>
          </a:xfrm>
          <a:custGeom>
            <a:avLst/>
            <a:gdLst/>
            <a:ahLst/>
            <a:cxnLst/>
            <a:rect l="l" t="t" r="r" b="b"/>
            <a:pathLst>
              <a:path w="5960688" h="2601028">
                <a:moveTo>
                  <a:pt x="0" y="0"/>
                </a:moveTo>
                <a:lnTo>
                  <a:pt x="5960688" y="0"/>
                </a:lnTo>
                <a:lnTo>
                  <a:pt x="5960688" y="2601028"/>
                </a:lnTo>
                <a:lnTo>
                  <a:pt x="0" y="2601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0" y="1609568"/>
            <a:ext cx="3988385" cy="1830926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-574076" y="3308152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pose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7" y="3465999"/>
            <a:ext cx="5575919" cy="152674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4" y="4981721"/>
            <a:ext cx="4034819" cy="1886652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29696" y="6525667"/>
            <a:ext cx="2336959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: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0604" y="6591598"/>
            <a:ext cx="391048" cy="365981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719" y="6726455"/>
            <a:ext cx="2882038" cy="1588816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245" y="7575702"/>
            <a:ext cx="5214821" cy="1771071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830" y="8602567"/>
            <a:ext cx="2928703" cy="86582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052" y="9285656"/>
            <a:ext cx="2197104" cy="791219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5460746" y="475659"/>
            <a:ext cx="2797375" cy="10013696"/>
          </a:xfrm>
          <a:custGeom>
            <a:avLst/>
            <a:gdLst/>
            <a:ahLst/>
            <a:cxnLst/>
            <a:rect l="l" t="t" r="r" b="b"/>
            <a:pathLst>
              <a:path w="2797375" h="10013696">
                <a:moveTo>
                  <a:pt x="0" y="0"/>
                </a:moveTo>
                <a:lnTo>
                  <a:pt x="2797375" y="0"/>
                </a:lnTo>
                <a:lnTo>
                  <a:pt x="2797375" y="10013696"/>
                </a:lnTo>
                <a:lnTo>
                  <a:pt x="0" y="100136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7522" r="-9044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23889" y="456609"/>
            <a:ext cx="592686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242424"/>
                </a:solidFill>
                <a:latin typeface="Ubuntu"/>
                <a:ea typeface="Ubuntu"/>
                <a:cs typeface="Ubuntu"/>
                <a:sym typeface="Ubuntu"/>
              </a:rPr>
              <a:t>2) </a:t>
            </a: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550">
              <a:solidFill>
                <a:srgbClr val="24242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-746487" y="1199559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-215543" y="4725123"/>
            <a:ext cx="3032204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Ça devient :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3216" y="1091253"/>
            <a:ext cx="4970753" cy="4086201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121608" y="990600"/>
            <a:ext cx="2536984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  :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49944" y="1039329"/>
            <a:ext cx="554375" cy="400382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121608" y="4991823"/>
            <a:ext cx="2536984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Calculons        :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23678" y="5096110"/>
            <a:ext cx="473938" cy="394949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5637" y="5345154"/>
            <a:ext cx="3415072" cy="2949706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1113" y="7112161"/>
            <a:ext cx="3924100" cy="2762984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313266" y="3828864"/>
            <a:ext cx="5147480" cy="801009"/>
            <a:chOff x="0" y="0"/>
            <a:chExt cx="1355715" cy="2109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55715" cy="210965"/>
            </a:xfrm>
            <a:custGeom>
              <a:avLst/>
              <a:gdLst/>
              <a:ahLst/>
              <a:cxnLst/>
              <a:rect l="l" t="t" r="r" b="b"/>
              <a:pathLst>
                <a:path w="1355715" h="210965">
                  <a:moveTo>
                    <a:pt x="21056" y="0"/>
                  </a:moveTo>
                  <a:lnTo>
                    <a:pt x="1334659" y="0"/>
                  </a:lnTo>
                  <a:cubicBezTo>
                    <a:pt x="1346288" y="0"/>
                    <a:pt x="1355715" y="9427"/>
                    <a:pt x="1355715" y="21056"/>
                  </a:cubicBezTo>
                  <a:lnTo>
                    <a:pt x="1355715" y="189909"/>
                  </a:lnTo>
                  <a:cubicBezTo>
                    <a:pt x="1355715" y="195494"/>
                    <a:pt x="1353497" y="200849"/>
                    <a:pt x="1349548" y="204798"/>
                  </a:cubicBezTo>
                  <a:cubicBezTo>
                    <a:pt x="1345599" y="208747"/>
                    <a:pt x="1340243" y="210965"/>
                    <a:pt x="1334659" y="210965"/>
                  </a:cubicBezTo>
                  <a:lnTo>
                    <a:pt x="21056" y="210965"/>
                  </a:lnTo>
                  <a:cubicBezTo>
                    <a:pt x="15472" y="210965"/>
                    <a:pt x="10116" y="208747"/>
                    <a:pt x="6167" y="204798"/>
                  </a:cubicBezTo>
                  <a:cubicBezTo>
                    <a:pt x="2218" y="200849"/>
                    <a:pt x="0" y="195494"/>
                    <a:pt x="0" y="189909"/>
                  </a:cubicBezTo>
                  <a:lnTo>
                    <a:pt x="0" y="21056"/>
                  </a:lnTo>
                  <a:cubicBezTo>
                    <a:pt x="0" y="15472"/>
                    <a:pt x="2218" y="10116"/>
                    <a:pt x="6167" y="6167"/>
                  </a:cubicBezTo>
                  <a:cubicBezTo>
                    <a:pt x="10116" y="2218"/>
                    <a:pt x="15472" y="0"/>
                    <a:pt x="21056" y="0"/>
                  </a:cubicBezTo>
                  <a:close/>
                </a:path>
              </a:pathLst>
            </a:custGeom>
            <a:solidFill>
              <a:srgbClr val="B7CCF6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355715" cy="239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639" y="3454236"/>
            <a:ext cx="5572025" cy="1525674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1094898" y="1047427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On a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284798" y="1320281"/>
            <a:ext cx="4954517" cy="1288175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0962162" y="2656832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or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291620" y="2857550"/>
            <a:ext cx="4872642" cy="1334176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1120264" y="4038053"/>
            <a:ext cx="3205551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Donc :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799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78572" y="4560419"/>
            <a:ext cx="1733609" cy="79143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557253" y="4564287"/>
            <a:ext cx="1687192" cy="843596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1120264" y="5279856"/>
            <a:ext cx="320555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Alors :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78188" y="5848038"/>
            <a:ext cx="2127701" cy="76379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544532" y="5722768"/>
            <a:ext cx="2427353" cy="970941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1152720" y="6717705"/>
            <a:ext cx="320555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Ainsi :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730624" y="6898167"/>
            <a:ext cx="6705347" cy="14562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28270" y="4736974"/>
            <a:ext cx="6073825" cy="6162466"/>
            <a:chOff x="0" y="0"/>
            <a:chExt cx="801128" cy="8128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1128" cy="812820"/>
            </a:xfrm>
            <a:custGeom>
              <a:avLst/>
              <a:gdLst/>
              <a:ahLst/>
              <a:cxnLst/>
              <a:rect l="l" t="t" r="r" b="b"/>
              <a:pathLst>
                <a:path w="801128" h="812820">
                  <a:moveTo>
                    <a:pt x="400564" y="0"/>
                  </a:moveTo>
                  <a:cubicBezTo>
                    <a:pt x="179339" y="0"/>
                    <a:pt x="0" y="181956"/>
                    <a:pt x="0" y="406410"/>
                  </a:cubicBezTo>
                  <a:cubicBezTo>
                    <a:pt x="0" y="630864"/>
                    <a:pt x="179339" y="812820"/>
                    <a:pt x="400564" y="812820"/>
                  </a:cubicBezTo>
                  <a:cubicBezTo>
                    <a:pt x="621790" y="812820"/>
                    <a:pt x="801128" y="630864"/>
                    <a:pt x="801128" y="406410"/>
                  </a:cubicBezTo>
                  <a:cubicBezTo>
                    <a:pt x="801128" y="181956"/>
                    <a:pt x="621790" y="0"/>
                    <a:pt x="400564" y="0"/>
                  </a:cubicBez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106" y="47627"/>
              <a:ext cx="650917" cy="688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5345979"/>
            <a:ext cx="4958011" cy="3912321"/>
          </a:xfrm>
          <a:custGeom>
            <a:avLst/>
            <a:gdLst/>
            <a:ahLst/>
            <a:cxnLst/>
            <a:rect l="l" t="t" r="r" b="b"/>
            <a:pathLst>
              <a:path w="4958011" h="3912321">
                <a:moveTo>
                  <a:pt x="0" y="0"/>
                </a:moveTo>
                <a:lnTo>
                  <a:pt x="4958011" y="0"/>
                </a:lnTo>
                <a:lnTo>
                  <a:pt x="4958011" y="3912321"/>
                </a:lnTo>
                <a:lnTo>
                  <a:pt x="0" y="3912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348443" y="814070"/>
            <a:ext cx="7397556" cy="815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À la fin de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cours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l’élève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sera capable de :</a:t>
            </a: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Résoudre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une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équation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du second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degré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dans      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utilisant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le discriminant .</a:t>
            </a: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Interpréter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le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signe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du discriminant :</a:t>
            </a: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Construire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correctement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un tableau de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signe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d’un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polynôme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du second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degré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Résoudre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système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de deux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équations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à deux inconnues par :</a:t>
            </a: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méthode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du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déterminant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règle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de Cramer)</a:t>
            </a: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Calculer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déterminant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d’ordre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2 et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interpréter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               → solution unique</a:t>
            </a:r>
          </a:p>
          <a:p>
            <a:pPr marL="949982" lvl="2" indent="-316661" algn="l">
              <a:lnSpc>
                <a:spcPts val="2860"/>
              </a:lnSpc>
              <a:buFont typeface="Arial"/>
              <a:buChar char="⚬"/>
            </a:pP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               →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infinité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de solutions</a:t>
            </a:r>
          </a:p>
          <a:p>
            <a:pPr algn="l">
              <a:lnSpc>
                <a:spcPts val="2860"/>
              </a:lnSpc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860"/>
              </a:lnSpc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Rédiger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une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solution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mathématique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complète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avec justification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logique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474991" lvl="1" indent="-237495" algn="l">
              <a:lnSpc>
                <a:spcPts val="2860"/>
              </a:lnSpc>
              <a:buAutoNum type="arabicPeriod"/>
            </a:pP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Développer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un esprit critique pour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détecter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les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pièges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200" dirty="0" err="1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algébriques</a:t>
            </a:r>
            <a:r>
              <a:rPr lang="en-US" sz="2200" dirty="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2860"/>
              </a:lnSpc>
            </a:pPr>
            <a:endParaRPr lang="en-US" sz="2200" dirty="0">
              <a:solidFill>
                <a:srgbClr val="24242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45785" y="552280"/>
            <a:ext cx="7245597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u="none" strike="noStrike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Résultats d'apprentissage</a:t>
            </a:r>
          </a:p>
        </p:txBody>
      </p:sp>
      <p:sp>
        <p:nvSpPr>
          <p:cNvPr id="8" name="Freeform 8"/>
          <p:cNvSpPr/>
          <p:nvPr/>
        </p:nvSpPr>
        <p:spPr>
          <a:xfrm>
            <a:off x="604231" y="1238475"/>
            <a:ext cx="492272" cy="780259"/>
          </a:xfrm>
          <a:custGeom>
            <a:avLst/>
            <a:gdLst/>
            <a:ahLst/>
            <a:cxnLst/>
            <a:rect l="l" t="t" r="r" b="b"/>
            <a:pathLst>
              <a:path w="492272" h="780259">
                <a:moveTo>
                  <a:pt x="0" y="0"/>
                </a:moveTo>
                <a:lnTo>
                  <a:pt x="492272" y="0"/>
                </a:lnTo>
                <a:lnTo>
                  <a:pt x="492272" y="780259"/>
                </a:lnTo>
                <a:lnTo>
                  <a:pt x="0" y="7802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53973" y="756439"/>
            <a:ext cx="550257" cy="872166"/>
          </a:xfrm>
          <a:custGeom>
            <a:avLst/>
            <a:gdLst/>
            <a:ahLst/>
            <a:cxnLst/>
            <a:rect l="l" t="t" r="r" b="b"/>
            <a:pathLst>
              <a:path w="550257" h="872166">
                <a:moveTo>
                  <a:pt x="0" y="0"/>
                </a:moveTo>
                <a:lnTo>
                  <a:pt x="550258" y="0"/>
                </a:lnTo>
                <a:lnTo>
                  <a:pt x="550258" y="872166"/>
                </a:lnTo>
                <a:lnTo>
                  <a:pt x="0" y="8721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6112" y="2246334"/>
            <a:ext cx="920564" cy="367512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6112" y="2588553"/>
            <a:ext cx="920564" cy="38535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5659" y="2933850"/>
            <a:ext cx="1046000" cy="417589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0348" y="6144172"/>
            <a:ext cx="1109730" cy="507551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6257" y="6601109"/>
            <a:ext cx="884436" cy="997103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59868" y="1191274"/>
            <a:ext cx="326653" cy="30396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548957" y="1607961"/>
            <a:ext cx="247723" cy="231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48876" y="7957786"/>
            <a:ext cx="5960688" cy="2601028"/>
          </a:xfrm>
          <a:custGeom>
            <a:avLst/>
            <a:gdLst/>
            <a:ahLst/>
            <a:cxnLst/>
            <a:rect l="l" t="t" r="r" b="b"/>
            <a:pathLst>
              <a:path w="5960688" h="2601028">
                <a:moveTo>
                  <a:pt x="0" y="0"/>
                </a:moveTo>
                <a:lnTo>
                  <a:pt x="5960688" y="0"/>
                </a:lnTo>
                <a:lnTo>
                  <a:pt x="5960688" y="2601028"/>
                </a:lnTo>
                <a:lnTo>
                  <a:pt x="0" y="2601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-760100">
            <a:off x="16590628" y="7940739"/>
            <a:ext cx="2635122" cy="263512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760100">
            <a:off x="16329399" y="8182967"/>
            <a:ext cx="455425" cy="45542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473778">
            <a:off x="15331372" y="8724970"/>
            <a:ext cx="309870" cy="491148"/>
          </a:xfrm>
          <a:custGeom>
            <a:avLst/>
            <a:gdLst/>
            <a:ahLst/>
            <a:cxnLst/>
            <a:rect l="l" t="t" r="r" b="b"/>
            <a:pathLst>
              <a:path w="309870" h="491148">
                <a:moveTo>
                  <a:pt x="0" y="0"/>
                </a:moveTo>
                <a:lnTo>
                  <a:pt x="309870" y="0"/>
                </a:lnTo>
                <a:lnTo>
                  <a:pt x="309870" y="491148"/>
                </a:lnTo>
                <a:lnTo>
                  <a:pt x="0" y="491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 rot="1749349">
            <a:off x="16972629" y="7189880"/>
            <a:ext cx="444340" cy="704285"/>
          </a:xfrm>
          <a:custGeom>
            <a:avLst/>
            <a:gdLst/>
            <a:ahLst/>
            <a:cxnLst/>
            <a:rect l="l" t="t" r="r" b="b"/>
            <a:pathLst>
              <a:path w="444340" h="704285">
                <a:moveTo>
                  <a:pt x="0" y="0"/>
                </a:moveTo>
                <a:lnTo>
                  <a:pt x="444340" y="0"/>
                </a:lnTo>
                <a:lnTo>
                  <a:pt x="444340" y="704285"/>
                </a:lnTo>
                <a:lnTo>
                  <a:pt x="0" y="70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2378184" y="2841625"/>
            <a:ext cx="11309817" cy="45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 cours nous a permis de maîtriser les techniques essentielles pour résoudre les équations du second degré et les systèmes de deux équations à deux inconnues. Nous avons appris à analyser une équation grâce au discriminant, à interpréter correctement le nombre de solutions possibles et à construire un tableau de signe pour étudier le comportement d’un polynôme.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173200" y="8223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000125"/>
            <a:ext cx="10829854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74086" y="6838794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6" y="0"/>
                </a:lnTo>
                <a:lnTo>
                  <a:pt x="3318416" y="3318416"/>
                </a:lnTo>
                <a:lnTo>
                  <a:pt x="0" y="331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3850178" y="7144356"/>
            <a:ext cx="3318416" cy="3318416"/>
          </a:xfrm>
          <a:custGeom>
            <a:avLst/>
            <a:gdLst/>
            <a:ahLst/>
            <a:cxnLst/>
            <a:rect l="l" t="t" r="r" b="b"/>
            <a:pathLst>
              <a:path w="3318416" h="3318416">
                <a:moveTo>
                  <a:pt x="0" y="0"/>
                </a:moveTo>
                <a:lnTo>
                  <a:pt x="3318417" y="0"/>
                </a:lnTo>
                <a:lnTo>
                  <a:pt x="3318417" y="3318417"/>
                </a:lnTo>
                <a:lnTo>
                  <a:pt x="0" y="3318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AutoShape 4"/>
          <p:cNvSpPr/>
          <p:nvPr/>
        </p:nvSpPr>
        <p:spPr>
          <a:xfrm>
            <a:off x="14141438" y="7422689"/>
            <a:ext cx="2129265" cy="2129265"/>
          </a:xfrm>
          <a:prstGeom prst="line">
            <a:avLst/>
          </a:prstGeom>
          <a:ln w="95250" cap="flat">
            <a:solidFill>
              <a:srgbClr val="242424"/>
            </a:solidFill>
            <a:prstDash val="solid"/>
            <a:headEnd type="arrow" w="med" len="sm"/>
            <a:tailEnd type="arrow" w="med" len="sm"/>
          </a:ln>
        </p:spPr>
      </p:sp>
      <p:sp>
        <p:nvSpPr>
          <p:cNvPr id="5" name="Freeform 5"/>
          <p:cNvSpPr/>
          <p:nvPr/>
        </p:nvSpPr>
        <p:spPr>
          <a:xfrm flipV="1">
            <a:off x="15322564" y="7741157"/>
            <a:ext cx="4849741" cy="4832106"/>
          </a:xfrm>
          <a:custGeom>
            <a:avLst/>
            <a:gdLst/>
            <a:ahLst/>
            <a:cxnLst/>
            <a:rect l="l" t="t" r="r" b="b"/>
            <a:pathLst>
              <a:path w="4849741" h="4832106">
                <a:moveTo>
                  <a:pt x="0" y="4832106"/>
                </a:moveTo>
                <a:lnTo>
                  <a:pt x="4849742" y="4832106"/>
                </a:lnTo>
                <a:lnTo>
                  <a:pt x="4849742" y="0"/>
                </a:lnTo>
                <a:lnTo>
                  <a:pt x="0" y="0"/>
                </a:lnTo>
                <a:lnTo>
                  <a:pt x="0" y="4832106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-445897" y="7875134"/>
            <a:ext cx="2759425" cy="275942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3EDB8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15322564" y="-1478480"/>
            <a:ext cx="4506102" cy="4506102"/>
          </a:xfrm>
          <a:custGeom>
            <a:avLst/>
            <a:gdLst/>
            <a:ahLst/>
            <a:cxnLst/>
            <a:rect l="l" t="t" r="r" b="b"/>
            <a:pathLst>
              <a:path w="4506102" h="4506102">
                <a:moveTo>
                  <a:pt x="0" y="4506102"/>
                </a:moveTo>
                <a:lnTo>
                  <a:pt x="4506102" y="4506102"/>
                </a:lnTo>
                <a:lnTo>
                  <a:pt x="4506102" y="0"/>
                </a:lnTo>
                <a:lnTo>
                  <a:pt x="0" y="0"/>
                </a:lnTo>
                <a:lnTo>
                  <a:pt x="0" y="450610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-3367509" y="356752"/>
            <a:ext cx="5843225" cy="6172200"/>
          </a:xfrm>
          <a:custGeom>
            <a:avLst/>
            <a:gdLst/>
            <a:ahLst/>
            <a:cxnLst/>
            <a:rect l="l" t="t" r="r" b="b"/>
            <a:pathLst>
              <a:path w="5843225" h="6172200">
                <a:moveTo>
                  <a:pt x="0" y="0"/>
                </a:moveTo>
                <a:lnTo>
                  <a:pt x="5843225" y="0"/>
                </a:lnTo>
                <a:lnTo>
                  <a:pt x="584322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083614" y="5386623"/>
            <a:ext cx="3132515" cy="4053843"/>
          </a:xfrm>
          <a:custGeom>
            <a:avLst/>
            <a:gdLst/>
            <a:ahLst/>
            <a:cxnLst/>
            <a:rect l="l" t="t" r="r" b="b"/>
            <a:pathLst>
              <a:path w="3132515" h="4053843">
                <a:moveTo>
                  <a:pt x="0" y="0"/>
                </a:moveTo>
                <a:lnTo>
                  <a:pt x="3132515" y="0"/>
                </a:lnTo>
                <a:lnTo>
                  <a:pt x="3132515" y="4053843"/>
                </a:lnTo>
                <a:lnTo>
                  <a:pt x="0" y="40538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4321813" y="2460346"/>
            <a:ext cx="1000752" cy="970729"/>
          </a:xfrm>
          <a:custGeom>
            <a:avLst/>
            <a:gdLst/>
            <a:ahLst/>
            <a:cxnLst/>
            <a:rect l="l" t="t" r="r" b="b"/>
            <a:pathLst>
              <a:path w="1000752" h="970729">
                <a:moveTo>
                  <a:pt x="0" y="0"/>
                </a:moveTo>
                <a:lnTo>
                  <a:pt x="1000751" y="0"/>
                </a:lnTo>
                <a:lnTo>
                  <a:pt x="1000751" y="970729"/>
                </a:lnTo>
                <a:lnTo>
                  <a:pt x="0" y="9707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/>
          <p:nvPr/>
        </p:nvGrpSpPr>
        <p:grpSpPr>
          <a:xfrm>
            <a:off x="3097762" y="2371641"/>
            <a:ext cx="12092477" cy="6029963"/>
            <a:chOff x="0" y="0"/>
            <a:chExt cx="1127964" cy="5624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7964" cy="562464"/>
            </a:xfrm>
            <a:custGeom>
              <a:avLst/>
              <a:gdLst/>
              <a:ahLst/>
              <a:cxnLst/>
              <a:rect l="l" t="t" r="r" b="b"/>
              <a:pathLst>
                <a:path w="1127964" h="562464">
                  <a:moveTo>
                    <a:pt x="0" y="0"/>
                  </a:moveTo>
                  <a:lnTo>
                    <a:pt x="1127964" y="0"/>
                  </a:lnTo>
                  <a:lnTo>
                    <a:pt x="1127964" y="562464"/>
                  </a:lnTo>
                  <a:lnTo>
                    <a:pt x="0" y="562464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127964" cy="5910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97114" y="2917135"/>
            <a:ext cx="10244324" cy="474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0"/>
              </a:lnSpc>
              <a:spcBef>
                <a:spcPct val="0"/>
              </a:spcBef>
            </a:pPr>
            <a:r>
              <a:rPr lang="en-US" sz="6200" b="1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Merci pour  votre attention ! vous avez des questions ?, Merci de les garder chez vous et de ne les pas poser 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7550" y="9504329"/>
            <a:ext cx="10542628" cy="33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 PROJET EST DÉVELOPPÉ PAR : NABIL JOUAT - YASSER OUAFIQ - ADAM DIFAA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77598" y="6791382"/>
            <a:ext cx="8844215" cy="7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3"/>
              </a:lnSpc>
              <a:spcBef>
                <a:spcPct val="0"/>
              </a:spcBef>
            </a:pPr>
            <a:r>
              <a:rPr lang="en-US" sz="461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😊😅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9175" y="85741"/>
            <a:ext cx="10829854" cy="942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fr-FR" sz="6000" b="1" dirty="0">
                <a:solidFill>
                  <a:srgbClr val="242424"/>
                </a:solidFill>
                <a:latin typeface="Ubuntu Bold"/>
                <a:ea typeface="Ubuntu Bold"/>
                <a:cs typeface="Ubuntu Bold"/>
                <a:sym typeface="Ubuntu Bold"/>
              </a:rPr>
              <a:t>Références</a:t>
            </a:r>
            <a:endParaRPr lang="en-US" sz="6000" b="1" u="none" strike="noStrike" dirty="0">
              <a:solidFill>
                <a:srgbClr val="242424"/>
              </a:solidFill>
              <a:latin typeface="Ubuntu Bold"/>
              <a:ea typeface="Ubuntu Bold"/>
              <a:cs typeface="Ubuntu Bold"/>
              <a:sym typeface="Ubuntu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209412" y="8565176"/>
            <a:ext cx="5960688" cy="2601028"/>
          </a:xfrm>
          <a:custGeom>
            <a:avLst/>
            <a:gdLst/>
            <a:ahLst/>
            <a:cxnLst/>
            <a:rect l="l" t="t" r="r" b="b"/>
            <a:pathLst>
              <a:path w="5960688" h="2601028">
                <a:moveTo>
                  <a:pt x="0" y="0"/>
                </a:moveTo>
                <a:lnTo>
                  <a:pt x="5960688" y="0"/>
                </a:lnTo>
                <a:lnTo>
                  <a:pt x="5960688" y="2601028"/>
                </a:lnTo>
                <a:lnTo>
                  <a:pt x="0" y="2601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 rot="-760100">
            <a:off x="15179874" y="6083490"/>
            <a:ext cx="418000" cy="4180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760100">
            <a:off x="12443223" y="6973776"/>
            <a:ext cx="455425" cy="45542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solidFill>
              <a:srgbClr val="B7CCF6"/>
            </a:solidFill>
            <a:ln w="28575" cap="sq">
              <a:solidFill>
                <a:srgbClr val="24242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500" y="34925"/>
              <a:ext cx="6858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473778">
            <a:off x="13450943" y="7243671"/>
            <a:ext cx="309870" cy="491148"/>
          </a:xfrm>
          <a:custGeom>
            <a:avLst/>
            <a:gdLst/>
            <a:ahLst/>
            <a:cxnLst/>
            <a:rect l="l" t="t" r="r" b="b"/>
            <a:pathLst>
              <a:path w="309870" h="491148">
                <a:moveTo>
                  <a:pt x="0" y="0"/>
                </a:moveTo>
                <a:lnTo>
                  <a:pt x="309870" y="0"/>
                </a:lnTo>
                <a:lnTo>
                  <a:pt x="309870" y="491148"/>
                </a:lnTo>
                <a:lnTo>
                  <a:pt x="0" y="491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1749349">
            <a:off x="15967587" y="5895625"/>
            <a:ext cx="444340" cy="704285"/>
          </a:xfrm>
          <a:custGeom>
            <a:avLst/>
            <a:gdLst/>
            <a:ahLst/>
            <a:cxnLst/>
            <a:rect l="l" t="t" r="r" b="b"/>
            <a:pathLst>
              <a:path w="444340" h="704285">
                <a:moveTo>
                  <a:pt x="0" y="0"/>
                </a:moveTo>
                <a:lnTo>
                  <a:pt x="444339" y="0"/>
                </a:lnTo>
                <a:lnTo>
                  <a:pt x="444339" y="704285"/>
                </a:lnTo>
                <a:lnTo>
                  <a:pt x="0" y="7042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1028700" y="1026877"/>
            <a:ext cx="5625195" cy="794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Wikipedia (références théoriques solides)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Équation du second degré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6" tooltip="https://fr.wikipedia.org/wiki/%C3%89quation_du_second_degr%C3%A9"/>
              </a:rPr>
              <a:t>https://fr.wikipedia.org/wiki/%C3%89quation_du_second_degr%C3%A9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Discriminant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7" tooltip="https://fr.wikipedia.org/wiki/Discriminant"/>
              </a:rPr>
              <a:t>https://fr.wikipedia.org/wiki/Discriminant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Système d’équations linéaires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8" tooltip="https://fr.wikipedia.org/wiki/Syst%C3%A8me_d%27%C3%A9quations_lin%C3%A9aires"/>
              </a:rPr>
              <a:t>https://fr.wikipedia.org/wiki/Syst%C3%A8me_d%27%C3%A9quations_lin%C3%A9aires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Règle de Cramer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9" tooltip="https://fr.wikipedia.org/wiki/R%C3%A8gle_de_Cramer"/>
              </a:rPr>
              <a:t>https://fr.wikipedia.org/wiki/R%C3%A8gle_de_Cramer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Déterminant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0" tooltip="https://fr.wikipedia.org/wiki/D%C3%A9terminant"/>
              </a:rPr>
              <a:t>https://fr.wikipedia.org/wiki/D%C3%A9terminant</a:t>
            </a:r>
          </a:p>
          <a:p>
            <a:pPr marL="0" lvl="1" indent="0" algn="l">
              <a:lnSpc>
                <a:spcPts val="3359"/>
              </a:lnSpc>
              <a:spcBef>
                <a:spcPct val="0"/>
              </a:spcBef>
            </a:pPr>
            <a:endParaRPr lang="en-US" sz="2400" u="sng">
              <a:solidFill>
                <a:srgbClr val="242424"/>
              </a:solidFill>
              <a:latin typeface="Inter"/>
              <a:ea typeface="Inter"/>
              <a:cs typeface="Inter"/>
              <a:sym typeface="Inter"/>
              <a:hlinkClick r:id="rId10" tooltip="https://fr.wikipedia.org/wiki/D%C3%A9terminan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443351" y="900171"/>
            <a:ext cx="13111985" cy="823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AlloSchool — Mathématiques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Systèmes d’équations à deux inconnues</a:t>
            </a:r>
          </a:p>
          <a:p>
            <a:pPr algn="ctr">
              <a:lnSpc>
                <a:spcPts val="2882"/>
              </a:lnSpc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1" tooltip="https://www.alloschool.com/element/110741"/>
              </a:rPr>
              <a:t>https://www.alloschool.com/element/110741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Résolution par combinaison</a:t>
            </a:r>
          </a:p>
          <a:p>
            <a:pPr algn="ctr">
              <a:lnSpc>
                <a:spcPts val="2882"/>
              </a:lnSpc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2" tooltip="https://www.alloschool.com/element/96032"/>
              </a:rPr>
              <a:t>https://www.alloschool.com/element/96032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Tableau de signe</a:t>
            </a:r>
          </a:p>
          <a:p>
            <a:pPr algn="ctr">
              <a:lnSpc>
                <a:spcPts val="2882"/>
              </a:lnSpc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3" tooltip="https://www.alloschool.com/element/110809"/>
              </a:rPr>
              <a:t>https://www.alloschool.com/element/110809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Discriminant (∆)</a:t>
            </a:r>
          </a:p>
          <a:p>
            <a:pPr algn="ctr">
              <a:lnSpc>
                <a:spcPts val="2882"/>
              </a:lnSpc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4" tooltip="https://www.alloschool.com/element/110785"/>
              </a:rPr>
              <a:t>https://www.alloschool.com/element/110785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Équations du second degré</a:t>
            </a:r>
          </a:p>
          <a:p>
            <a:pPr algn="ctr">
              <a:lnSpc>
                <a:spcPts val="2882"/>
              </a:lnSpc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5" tooltip="https://www.alloschool.com/element/110782"/>
              </a:rPr>
              <a:t>https://www.alloschool.com/element/110782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📍 Dyrassa — Mathématiques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Systèmes d’équations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https://dyrassa.com/systeme-equations/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Tableau de signe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https://dyrassa.com/tableau-de-signe/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Discriminant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https://dyrassa.com/discriminant/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Équations du second degré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https://dyrassa.com/equation-second-degre/</a:t>
            </a:r>
          </a:p>
          <a:p>
            <a:pPr algn="ctr">
              <a:lnSpc>
                <a:spcPts val="2882"/>
              </a:lnSpc>
            </a:pPr>
            <a:r>
              <a:rPr lang="en-US" sz="2217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</a:rPr>
              <a:t>🔹 Soutien scolaire / Mathématiques</a:t>
            </a:r>
          </a:p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sz="2217" u="sng">
                <a:solidFill>
                  <a:srgbClr val="242424"/>
                </a:solidFill>
                <a:latin typeface="Inter"/>
                <a:ea typeface="Inter"/>
                <a:cs typeface="Inter"/>
                <a:sym typeface="Inter"/>
                <a:hlinkClick r:id="rId16" tooltip="https://dyrassa.com/soutien-scolaire/"/>
              </a:rPr>
              <a:t>/</a:t>
            </a:r>
          </a:p>
          <a:p>
            <a:pPr algn="ctr">
              <a:lnSpc>
                <a:spcPts val="1452"/>
              </a:lnSpc>
              <a:spcBef>
                <a:spcPct val="0"/>
              </a:spcBef>
            </a:pPr>
            <a:endParaRPr lang="en-US" sz="2217" u="sng">
              <a:solidFill>
                <a:srgbClr val="242424"/>
              </a:solidFill>
              <a:latin typeface="Inter"/>
              <a:ea typeface="Inter"/>
              <a:cs typeface="Inter"/>
              <a:sym typeface="Inter"/>
              <a:hlinkClick r:id="rId16" tooltip="https://dyrassa.com/soutien-scolaire/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1041</Words>
  <Application>Microsoft Office PowerPoint</Application>
  <PresentationFormat>Custom</PresentationFormat>
  <Paragraphs>157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Inter</vt:lpstr>
      <vt:lpstr>Arial</vt:lpstr>
      <vt:lpstr>Calibri</vt:lpstr>
      <vt:lpstr>Helvetica World</vt:lpstr>
      <vt:lpstr>Ubuntu</vt:lpstr>
      <vt:lpstr>Ubuntu Bold</vt:lpstr>
      <vt:lpstr>Inter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Réalisé par</dc:title>
  <dc:creator>dell</dc:creator>
  <cp:lastModifiedBy>ibnouennadrenabil@gmail.com</cp:lastModifiedBy>
  <cp:revision>5</cp:revision>
  <dcterms:created xsi:type="dcterms:W3CDTF">2006-08-16T00:00:00Z</dcterms:created>
  <dcterms:modified xsi:type="dcterms:W3CDTF">2026-03-10T13:11:24Z</dcterms:modified>
  <dc:identifier>DAHCdMZ0xm0</dc:identifier>
</cp:coreProperties>
</file>